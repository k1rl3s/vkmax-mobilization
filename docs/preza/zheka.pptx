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Слайд не оценивается, но по нему жюри проверяет решение. Перед сдачей вписать commit hash и значение API_TEST_TOKEN с прода. Все ссылки открыть в инкогнито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Название, слоган и состав команды с ролями: критерий «Командное владение решением» просит роли и зоны ответственности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Формула проблемы из материалов трека: пользователь, контекст, результат, барьер, последствие. Факты отделены от гипотез. CustDev вставить обязательно: критерий «Пользовательская ценность» просит подтверждение данными или интервью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Организаторы просят разделять знаем, предполагаем и не знаем. Гипотезы проверяются метриками пилота со слайда об эффекте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Скриншоты мини-приложения на мок-данных фронтенда. Сообщения бота показываем вживую в демо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Кандидат на платформенный бонус +0,15: возможность должна работать от начала до конца и быть описана в материалах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Цифры эффекта - гипотезы до пилота, так и проговаривать. Все метрики уже собираются в событиях и видны на дашборде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Сообщения уходят после коммита транзакции; вебхук отвечает за 30 секунд, тяжёлое уходит в taskiq. initData проверяется HMAC на токене бота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Масштабирование весит больше всех продуктовых критериев (35%). Числа МКД: выгрузка КР 1.1 Реформы ЖКХ от 01.09.2026: Москва 30 292, СПб 23 674, Казань 5 887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x.ru/t260_hakaton_max_bot" TargetMode="External"/><Relationship Id="rId3" Type="http://schemas.openxmlformats.org/officeDocument/2006/relationships/hyperlink" Target="https://github.com/K1rL3s/vkmax-mobilization" TargetMode="External"/><Relationship Id="rId4" Type="http://schemas.openxmlformats.org/officeDocument/2006/relationships/hyperlink" Target="https://vkmax.k1rles.ru/api/healthcheck" TargetMode="External"/><Relationship Id="rId5" Type="http://schemas.openxmlformats.org/officeDocument/2006/relationships/hyperlink" Target="https://vkmax.k1rles.ru/api/docs" TargetMode="External"/><Relationship Id="rId7" Type="http://schemas.openxmlformats.org/officeDocument/2006/relationships/hyperlink" Target="https://max.ru/t260_hakaton_max_bot?start=demo_resident_1" TargetMode="External"/><Relationship Id="rId9" Type="http://schemas.openxmlformats.org/officeDocument/2006/relationships/hyperlink" Target="https://max.ru/t260_hakaton_max_bot?start=demo_staff_1" TargetMode="External"/><Relationship Id="rId11" Type="http://schemas.openxmlformats.org/officeDocument/2006/relationships/hyperlink" Target="https://max.ru/t260_hakaton_max_bot?start=demo_admin_1" TargetMode="External"/><Relationship Id="rId1" Type="http://schemas.openxmlformats.org/officeDocument/2006/relationships/image" Target="../media/image-1-1.png"/><Relationship Id="rId6" Type="http://schemas.openxmlformats.org/officeDocument/2006/relationships/image" Target="../media/image-1-2.png"/><Relationship Id="rId8" Type="http://schemas.openxmlformats.org/officeDocument/2006/relationships/image" Target="../media/image-1-3.png"/><Relationship Id="rId10" Type="http://schemas.openxmlformats.org/officeDocument/2006/relationships/image" Target="../media/image-1-4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5" Type="http://schemas.openxmlformats.org/officeDocument/2006/relationships/hyperlink" Target="https://max.ru/t260_hakaton_max_bot" TargetMode="External"/><Relationship Id="rId7" Type="http://schemas.openxmlformats.org/officeDocument/2006/relationships/hyperlink" Target="https://github.com/K1rL3s/vkmax-mobilization" TargetMode="External"/><Relationship Id="rId1" Type="http://schemas.openxmlformats.org/officeDocument/2006/relationships/image" Target="../media/Slide-26-image-1.png"/><Relationship Id="rId2" Type="http://schemas.openxmlformats.org/officeDocument/2006/relationships/image" Target="../media/image-26-2.png"/><Relationship Id="rId3" Type="http://schemas.openxmlformats.org/officeDocument/2006/relationships/image" Target="../media/image-26-2.png"/><Relationship Id="rId4" Type="http://schemas.openxmlformats.org/officeDocument/2006/relationships/image" Target="../media/image-26-4.png"/><Relationship Id="rId6" Type="http://schemas.openxmlformats.org/officeDocument/2006/relationships/image" Target="../media/image-26-5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технической проверки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Служебный слайд: ссылки, доступы и порядок проверки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828800"/>
            <a:ext cx="5486400" cy="448056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20116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Ссылки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505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 в MAX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242316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max.ru/t260_hakaton_max_bot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8163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Репозиторий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2423160" y="28163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github.com/K1rL3s/vkmax-mobilization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1821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Commit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423160" y="31821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[hash сдаваемой версии]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822960" y="35478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2423160" y="35478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vkmax.k1rles.ru/api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39136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Документация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2423160" y="3913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u="sng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vkmax.k1rles.ru/api/docs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822960" y="427939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Контракт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2423160" y="42793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openapi.yaml, DATA-API.yaml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822960" y="464515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Токен API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2423160" y="464515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Bearer [значение API_TEST_TOKEN]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822960" y="501091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Логины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423160" y="501091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нужны, вход по аккаунту MAX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" y="537667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Лицевые счета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2423160" y="537667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номер квартиры с нулями: 0000000012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" y="5742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Окружение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2423160" y="57424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.env.example; MAX_TOKEN - выданный бот, ключи Yandex не нужны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309360" y="1828800"/>
            <a:ext cx="5330952" cy="448056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58368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Демо-доступ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583680" y="246888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Нажмите на роль: ссылка откроет бота в MAX, и он выдаст эту роль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6583680" y="3154680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958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demo_resident_1</a:t>
            </a:r>
            <a:endParaRPr lang="en-US" sz="1200" dirty="0"/>
          </a:p>
        </p:txBody>
      </p:sp>
      <p:pic>
        <p:nvPicPr>
          <p:cNvPr id="32" name="Image 1" descr="preencoded.png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0" y="3154680"/>
            <a:ext cx="1920240" cy="384048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8641080" y="31546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житель: своя квартира, история за 6 месяцев</a:t>
            </a:r>
            <a:endParaRPr lang="en-US" sz="1250" dirty="0"/>
          </a:p>
        </p:txBody>
      </p:sp>
      <p:sp>
        <p:nvSpPr>
          <p:cNvPr id="34" name="Text 30"/>
          <p:cNvSpPr txBox="1"/>
          <p:nvPr/>
        </p:nvSpPr>
        <p:spPr>
          <a:xfrm>
            <a:off x="6583680" y="3721608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958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demo_staff_1</a:t>
            </a:r>
            <a:endParaRPr lang="en-US" sz="1200" dirty="0"/>
          </a:p>
        </p:txBody>
      </p:sp>
      <p:pic>
        <p:nvPicPr>
          <p:cNvPr id="35" name="Image 2" descr="preencoded.png">
            <a:hlinkClick r:id="rId9" tooltip=""/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721608"/>
            <a:ext cx="1920240" cy="38404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8641080" y="372160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сотрудник УК: заявки, показания</a:t>
            </a:r>
            <a:endParaRPr lang="en-US" sz="1250" dirty="0"/>
          </a:p>
        </p:txBody>
      </p:sp>
      <p:sp>
        <p:nvSpPr>
          <p:cNvPr id="37" name="Text 32"/>
          <p:cNvSpPr txBox="1"/>
          <p:nvPr/>
        </p:nvSpPr>
        <p:spPr>
          <a:xfrm>
            <a:off x="6583680" y="428853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0958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demo_admin_1</a:t>
            </a:r>
            <a:endParaRPr lang="en-US" sz="1200" dirty="0"/>
          </a:p>
        </p:txBody>
      </p:sp>
      <p:pic>
        <p:nvPicPr>
          <p:cNvPr id="38" name="Image 3" descr="preencoded.png">
            <a:hlinkClick r:id="rId11" tooltip=""/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83680" y="4288536"/>
            <a:ext cx="1920240" cy="38404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641080" y="428853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админ УК: дома, команда, аналитика</a:t>
            </a:r>
            <a:endParaRPr lang="en-US" sz="1250" dirty="0"/>
          </a:p>
        </p:txBody>
      </p:sp>
      <p:sp>
        <p:nvSpPr>
          <p:cNvPr id="40" name="Text 34"/>
          <p:cNvSpPr txBox="1"/>
          <p:nvPr/>
        </p:nvSpPr>
        <p:spPr>
          <a:xfrm>
            <a:off x="6583680" y="49377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Порядок проверки</a:t>
            </a:r>
            <a:endParaRPr lang="en-US" sz="1300" dirty="0"/>
          </a:p>
        </p:txBody>
      </p:sp>
      <p:sp>
        <p:nvSpPr>
          <p:cNvPr id="41" name="Text 35"/>
          <p:cNvSpPr txBox="1"/>
          <p:nvPr/>
        </p:nvSpPr>
        <p:spPr>
          <a:xfrm>
            <a:off x="6583680" y="528523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Житель: заявка с фото и подсказкой категории, показания по фото. Сотрудник: принять заявку, отправить на приёмку. Житель: уведомление, приёмка и оценка в чате. Подробно - README, «Сценарий проверки»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zheka-fa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3695" y="0"/>
            <a:ext cx="6858000" cy="6858000"/>
          </a:xfrm>
          <a:prstGeom prst="rect">
            <a:avLst/>
          </a:prstGeom>
        </p:spPr>
      </p:pic>
      <p:pic>
        <p:nvPicPr>
          <p:cNvPr id="3" name="Image 1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005840" cy="100584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828800" y="6583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Жэка</a:t>
            </a:r>
            <a:endParaRPr lang="en-US" sz="3200" dirty="0"/>
          </a:p>
        </p:txBody>
      </p:sp>
      <p:sp>
        <p:nvSpPr>
          <p:cNvPr id="5" name="Text 1"/>
          <p:cNvSpPr txBox="1"/>
          <p:nvPr/>
        </p:nvSpPr>
        <p:spPr>
          <a:xfrm>
            <a:off x="1828800" y="1216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Коммуналкин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640080" y="2103120"/>
            <a:ext cx="5394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Потекло, погасло, сломалось? Пишите Жэке</a:t>
            </a:r>
            <a:endParaRPr lang="en-US" sz="30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36576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 и мини-приложение в MAX для жителей многоквартирных домов и их управляющих компаний</a:t>
            </a:r>
            <a:endParaRPr lang="en-US" sz="17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 «Мобилизация» · Хакатон MAX, трек «Умный город», 2026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5166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Кирилл Лесовой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капитан, бэкенд</a:t>
            </a:r>
            <a:endParaRPr lang="en-US" sz="1500" dirty="0"/>
          </a:p>
        </p:txBody>
      </p:sp>
      <p:sp>
        <p:nvSpPr>
          <p:cNvPr id="10" name="Text 6"/>
          <p:cNvSpPr txBox="1"/>
          <p:nvPr/>
        </p:nvSpPr>
        <p:spPr>
          <a:xfrm>
            <a:off x="3246120" y="516636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Даниил Карпенко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фронтенд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640080" y="58247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Даниил Неслуховский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246120" y="58247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Артаган Мальсагов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бэкенд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Коротко о проекте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7589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Жэка - один бот в MAX для любой УК. Житель сообщает о проблеме за минуту, видит статус и сам принимает работу. Раз в месяц передаёт показания. УК получает один канал вместо звонков и выполняет требование ПП РФ № 40 о работе с жителями через MAX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548640" y="3246120"/>
            <a:ext cx="34747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347472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3639312"/>
            <a:ext cx="356616" cy="356616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82296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Жителю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47548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Заявка с фото за минуту, статус и срок в сообщениях бота, приёмка работы с фото «было - стало»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4297680" y="3246120"/>
            <a:ext cx="34747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572000" y="347472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3639312"/>
            <a:ext cx="356616" cy="35661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57200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УК</a:t>
            </a:r>
            <a:endParaRPr lang="en-US" sz="1700" dirty="0"/>
          </a:p>
        </p:txBody>
      </p:sp>
      <p:sp>
        <p:nvSpPr>
          <p:cNvPr id="15" name="Text 10"/>
          <p:cNvSpPr txBox="1"/>
          <p:nvPr/>
        </p:nvSpPr>
        <p:spPr>
          <a:xfrm>
            <a:off x="4572000" y="47548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Заявки, показания, объявления в домовые чаты, исполнители и аналитика в одном кабинете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8046720" y="3246120"/>
            <a:ext cx="3474720" cy="292608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347472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5632" y="3639312"/>
            <a:ext cx="356616" cy="356616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21040" y="42976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Рынку</a:t>
            </a:r>
            <a:endParaRPr lang="en-US" sz="1700" dirty="0"/>
          </a:p>
        </p:txBody>
      </p:sp>
      <p:sp>
        <p:nvSpPr>
          <p:cNvPr id="20" name="Text 14"/>
          <p:cNvSpPr txBox="1"/>
          <p:nvPr/>
        </p:nvSpPr>
        <p:spPr>
          <a:xfrm>
            <a:off x="8321040" y="475488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Обезличенный бенчмарк УК и счётчик спроса на дома, где УК ещё не подключена</a:t>
            </a:r>
            <a:endParaRPr lang="en-US" sz="1400" dirty="0"/>
          </a:p>
        </p:txBody>
      </p:sp>
      <p:sp>
        <p:nvSpPr>
          <p:cNvPr id="21" name="says:60204:20000"/>
          <p:cNvSpPr/>
          <p:nvPr/>
        </p:nvSpPr>
        <p:spPr>
          <a:xfrm>
            <a:off x="8138160" y="1554480"/>
            <a:ext cx="2240280" cy="914400"/>
          </a:xfrm>
          <a:prstGeom prst="wedgeRoundRectCallout">
            <a:avLst>
              <a:gd name="adj1" fmla="val 60204"/>
              <a:gd name="adj2" fmla="val 20000"/>
              <a:gd name="adj3" fmla="val 16667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284464" y="1609344"/>
            <a:ext cx="1947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Свой человек в ЖКХ: принял, передал, проследил</a:t>
            </a:r>
            <a:endParaRPr lang="en-US" sz="1250" dirty="0"/>
          </a:p>
        </p:txBody>
      </p:sp>
      <p:pic>
        <p:nvPicPr>
          <p:cNvPr id="23" name="Image 4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169164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Потекло. А кому звонить?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Собственник квартиры в доме под управлением УК</a:t>
            </a:r>
            <a:pPr indent="0" marL="0">
              <a:buNone/>
            </a:pPr>
            <a:r>
              <a:rPr lang="en-US" sz="17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 при бытовой проблеме (протечка, лифт, мусор) хочет, чтобы её устранили. Но он не знает, кто отвечает: УК, ресурсник или город. Ищет телефон, дозванивается и не видит ни статуса, ни сроков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063240"/>
            <a:ext cx="6583680" cy="566928"/>
          </a:xfrm>
          <a:prstGeom prst="roundRect">
            <a:avLst>
              <a:gd name="adj" fmla="val 50000"/>
            </a:avLst>
          </a:prstGeom>
          <a:solidFill>
            <a:srgbClr val="FE781A"/>
          </a:solidFill>
          <a:ln w="19050">
            <a:solidFill>
              <a:srgbClr val="0A1A3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A3E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 решается долго, доверие к УК падает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9776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4131259"/>
            <a:ext cx="332842" cy="33284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71600" y="399592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знает, кому писать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371600" y="43159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УК, РСО или муниципалитет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548640" y="484632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499993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371600" y="48646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Долго дозваниваться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371600" y="5184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Диспетчерская занята, ответ устный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548640" y="571500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" y="5868619"/>
            <a:ext cx="332842" cy="33284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371600" y="573328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 видит статуса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371600" y="605332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Выполнено - это слова диспетчера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7863840" y="1417320"/>
            <a:ext cx="3776472" cy="3063240"/>
          </a:xfrm>
          <a:prstGeom prst="roundRect">
            <a:avLst>
              <a:gd name="adj" fmla="val 5970"/>
            </a:avLst>
          </a:prstGeom>
          <a:solidFill>
            <a:srgbClr val="D5D9E6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8138160" y="16002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Чем подтверждаем</a:t>
            </a:r>
            <a:endParaRPr lang="en-US" sz="1400" dirty="0"/>
          </a:p>
        </p:txBody>
      </p:sp>
      <p:sp>
        <p:nvSpPr>
          <p:cNvPr id="21" name="Text 15"/>
          <p:cNvSpPr txBox="1"/>
          <p:nvPr/>
        </p:nvSpPr>
        <p:spPr>
          <a:xfrm>
            <a:off x="8138160" y="2057400"/>
            <a:ext cx="32918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Эксперт трека, Минстрой Псковской обл.: жители не знают, зарегистрировано ли обращение и когда его рассмотрят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Там же: непонятно, кто отвечает и куда обращаться - УК, ТСЖ или муниципалитет</a:t>
            </a:r>
            <a:endParaRPr lang="en-US" sz="12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[Выводы CustDev: N интервью, ключевые цитаты]</a:t>
            </a:r>
            <a:endParaRPr lang="en-US" sz="1250" dirty="0"/>
          </a:p>
        </p:txBody>
      </p:sp>
      <p:sp>
        <p:nvSpPr>
          <p:cNvPr id="22" name="says:59091:20000"/>
          <p:cNvSpPr/>
          <p:nvPr/>
        </p:nvSpPr>
        <p:spPr>
          <a:xfrm>
            <a:off x="7863840" y="4892040"/>
            <a:ext cx="2514600" cy="914400"/>
          </a:xfrm>
          <a:prstGeom prst="wedgeRoundRectCallout">
            <a:avLst>
              <a:gd name="adj1" fmla="val 59091"/>
              <a:gd name="adj2" fmla="val 20000"/>
              <a:gd name="adj3" fmla="val 16667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8010144" y="4946904"/>
            <a:ext cx="222199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Сегодня статус заявки - это то, что сказали по телефону</a:t>
            </a:r>
            <a:endParaRPr lang="en-US" sz="1250" dirty="0"/>
          </a:p>
        </p:txBody>
      </p:sp>
      <p:pic>
        <p:nvPicPr>
          <p:cNvPr id="24" name="Image 4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25328" y="502920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Почему сейчас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E781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01.09.2026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08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УК обязаны взаимодействовать с жителями через MAX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ПП РФ от 26.01.2026 № 40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34340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4,2 млрд м²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4343400" y="3108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общая площадь жилищного фонда России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34340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Росстат, 2024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138160" y="182880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49 312</a:t>
            </a:r>
            <a:endParaRPr lang="en-US" sz="3400" dirty="0"/>
          </a:p>
        </p:txBody>
      </p:sp>
      <p:sp>
        <p:nvSpPr>
          <p:cNvPr id="11" name="Text 9"/>
          <p:cNvSpPr txBox="1"/>
          <p:nvPr/>
        </p:nvSpPr>
        <p:spPr>
          <a:xfrm>
            <a:off x="8138160" y="31089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управляющих организаций в реестре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138160" y="40690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5D9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Реформа ЖКХ, 09.2026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3492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Требование уже действует, а готового инструмента у большинства УК нет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Жэка закрывает его за УК и даёт жителю прозрачный канал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знаем и что предполагаем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7872" cy="475488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6916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18452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7276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Знаем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56032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 обращение УК отвечает не позднее 10 рабочих дней (ПП РФ № 416, п. 36)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Эксперт трека: жители не знают, принято ли обращение и когда ответят; у УК 50+ домов и чатов без модераторов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Госуслуги Дом недоступен арендатору (эксперт трека)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4315968" y="1463040"/>
            <a:ext cx="3547872" cy="475488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FE781A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184525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0096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Предполагаем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56032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Номер и срок сразу после подачи снижают повторные звонки в диспетчерскую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Ежемесячные показания удерживают жителя между редкими заявками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Житель подтверждает работу, если это одна кнопка в чате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УК подключится, чтобы выполнить ПП № 40 без своей разработки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8083296" y="1463040"/>
            <a:ext cx="3547872" cy="4754880"/>
          </a:xfrm>
          <a:prstGeom prst="roundRect">
            <a:avLst>
              <a:gd name="adj" fmla="val 5155"/>
            </a:avLst>
          </a:prstGeom>
          <a:solidFill>
            <a:srgbClr val="F7F9FC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39328" y="16916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947" y="184525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07424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Проверим на пилоте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39328" y="256032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[Выводы CustDev: сколько человек, география, цитаты]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жителей дома, которые уже в MAX</a:t>
            </a:r>
            <a:endParaRPr lang="en-US" sz="12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Текущее время реакции УК пилота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кого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577840" cy="4754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rgbClr val="FE781A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525" y="1912925"/>
            <a:ext cx="380390" cy="38039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737360" y="17830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Приоритетный сегмент</a:t>
            </a:r>
            <a:endParaRPr lang="en-US" sz="1300" dirty="0"/>
          </a:p>
        </p:txBody>
      </p:sp>
      <p:sp>
        <p:nvSpPr>
          <p:cNvPr id="9" name="Text 5"/>
          <p:cNvSpPr txBox="1"/>
          <p:nvPr/>
        </p:nvSpPr>
        <p:spPr>
          <a:xfrm>
            <a:off x="1737360" y="20574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Собственник квартиры в МКД под управлением УК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3063240"/>
            <a:ext cx="50292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Первым сталкивается с проблемой в квартире и в доме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Платит по квитанции и хочет понимать, за что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 в месяц передаёт показания: это превращает редкую заявку в привычку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Голосует на собраниях и хочет знать, наберётся ли кворум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400800" y="1463040"/>
            <a:ext cx="5239512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6583680" y="1664208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7299" y="1817827"/>
            <a:ext cx="332842" cy="33284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406640" y="161848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Сотрудник УК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7406640" y="1938528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Диспетчер и админ: заявки, дома, показания, объявления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400800" y="2679192"/>
            <a:ext cx="5239512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583680" y="288036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299" y="3033979"/>
            <a:ext cx="332842" cy="33284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406640" y="28346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Исполнитель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406640" y="3154680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Мастер: карточка заявки прямо в диалоге с ботом, без мини-приложения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0" y="3895344"/>
            <a:ext cx="5239512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6583680" y="409651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37299" y="4250131"/>
            <a:ext cx="332842" cy="332842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7406640" y="40507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Председатель совета дома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7406640" y="4370832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Опросы, прогноз кворума, домовой чат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6400800" y="5111496"/>
            <a:ext cx="5239512" cy="1051560"/>
          </a:xfrm>
          <a:prstGeom prst="roundRect">
            <a:avLst>
              <a:gd name="adj" fmla="val 17391"/>
            </a:avLst>
          </a:prstGeom>
          <a:solidFill>
            <a:srgbClr val="FFFFFF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583680" y="5312664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37299" y="5466283"/>
            <a:ext cx="332842" cy="332842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7406640" y="526694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Арендатор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7406640" y="5586984"/>
            <a:ext cx="4069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Входит по коду собственника, без начислений и голосов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8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Было и стало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3749040"/>
                <a:gridCol w="4599432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Задача жителя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Сейчас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6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 Жэкой</a:t>
                      </a:r>
                      <a:endParaRPr lang="en-US" sz="14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58D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Узнать, кто отвечает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Искать в квитанции и на доске у подъезда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Бот знает УК дома, дом можно найти по адресу, геопозиции или QR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Сообщить о проблеме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Дозвон в диспетчерскую, устно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Заявка с фото и категорией за минуту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Узнать статус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Перезванивать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Бот пишет при каждой смене статуса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Подтвердить работу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Диспетчер отмечает «выполнено»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Житель принимает работу по фото и может подать повторную заявку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Передать показания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Бумажка в ящике или сайт УК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Фото счётчика, распознанное значение, сравнение с домом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Понять квитанцию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Звонок диспетчеру, который не знает ответа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Разбор суммы: объём или тариф, построчно</a:t>
                      </a:r>
                      <a:endParaRPr lang="en-US" sz="13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27000" marR="1270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9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Чем закрывают задачу сейчас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914400"/>
        </p:xfrm>
        <a:graphic>
          <a:graphicData uri="http://schemas.openxmlformats.org/drawingml/2006/table">
            <a:tbl>
              <a:tblPr/>
              <a:tblGrid>
                <a:gridCol w="3044952"/>
                <a:gridCol w="1609344"/>
                <a:gridCol w="1609344"/>
                <a:gridCol w="1609344"/>
                <a:gridCol w="1609344"/>
                <a:gridCol w="1609344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Телефон диспетчерской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Домовой чат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Сайт или приложение УК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Госуслуги Дом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Жэка</a:t>
                      </a:r>
                      <a:endParaRPr lang="en-US" sz="125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958D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Видно, кто отвечает за дом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Статус и срок заявки видны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Работу подтверждает житель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Показания без визита и звонка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Один вход для любой УК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Доступно арендатору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73267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Кабинет УК с исполнителями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частично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5A6B8C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нет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958DF"/>
                          </a:solidFill>
                          <a:latin typeface="Manrope" pitchFamily="34" charset="0"/>
                          <a:ea typeface="Manrope" pitchFamily="34" charset="-122"/>
                          <a:cs typeface="Manrope" pitchFamily="34" charset="-120"/>
                        </a:rPr>
                        <a:t>да</a:t>
                      </a:r>
                      <a:endParaRPr lang="en-US" sz="1300" dirty="0">
                        <a:latin typeface="Manrope" charset="0"/>
                        <a:ea typeface="Manrope" charset="0"/>
                        <a:cs typeface="Manrope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9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Госуслуги Дом - канал собственника в ГИС ЖКХ. Жэка закрывает то, чего там нет: арендатор, приёмка работы жителем, кабинет УК с исполнителями</a:t>
            </a:r>
            <a:endParaRPr lang="en-US" sz="14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5943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Арендатор и Госуслуги Дом: эксперт трека, вебинар хакатона. [Сверить оценки Госуслуги Дом и приложений УК с актуальными версиями]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Основной сценарий жителя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828800"/>
            <a:ext cx="2057400" cy="28346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20574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8" y="2215408"/>
            <a:ext cx="342351" cy="3423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2011680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D9E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777240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Открыл бота</a:t>
            </a:r>
            <a:endParaRPr lang="en-US" sz="1550" dirty="0"/>
          </a:p>
        </p:txBody>
      </p:sp>
      <p:sp>
        <p:nvSpPr>
          <p:cNvPr id="10" name="Text 6"/>
          <p:cNvSpPr txBox="1"/>
          <p:nvPr/>
        </p:nvSpPr>
        <p:spPr>
          <a:xfrm>
            <a:off x="777240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 QR у лифта, из домового чата или по ссылке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2642616" y="3246120"/>
            <a:ext cx="128016" cy="0"/>
          </a:xfrm>
          <a:prstGeom prst="line">
            <a:avLst/>
          </a:prstGeom>
          <a:noFill/>
          <a:ln w="19050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12" name="Shape 8"/>
          <p:cNvSpPr/>
          <p:nvPr/>
        </p:nvSpPr>
        <p:spPr>
          <a:xfrm>
            <a:off x="2807208" y="1828800"/>
            <a:ext cx="2057400" cy="28346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035808" y="20574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3816" y="2215408"/>
            <a:ext cx="342351" cy="342351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270248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D9E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1"/>
          <p:cNvSpPr txBox="1"/>
          <p:nvPr/>
        </p:nvSpPr>
        <p:spPr>
          <a:xfrm>
            <a:off x="3035808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Нашёл дом</a:t>
            </a:r>
            <a:endParaRPr lang="en-US" sz="1550" dirty="0"/>
          </a:p>
        </p:txBody>
      </p:sp>
      <p:sp>
        <p:nvSpPr>
          <p:cNvPr id="17" name="Text 12"/>
          <p:cNvSpPr txBox="1"/>
          <p:nvPr/>
        </p:nvSpPr>
        <p:spPr>
          <a:xfrm>
            <a:off x="3035808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Город, улица, дом или геопозиция. Согласие на ПД до выбора дома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901184" y="3246120"/>
            <a:ext cx="128016" cy="0"/>
          </a:xfrm>
          <a:prstGeom prst="line">
            <a:avLst/>
          </a:prstGeom>
          <a:noFill/>
          <a:ln w="19050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19" name="Shape 14"/>
          <p:cNvSpPr/>
          <p:nvPr/>
        </p:nvSpPr>
        <p:spPr>
          <a:xfrm>
            <a:off x="5065776" y="1828800"/>
            <a:ext cx="2057400" cy="28346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294376" y="2057400"/>
            <a:ext cx="658368" cy="658368"/>
          </a:xfrm>
          <a:prstGeom prst="ellipse">
            <a:avLst/>
          </a:prstGeom>
          <a:solidFill>
            <a:srgbClr val="FE781A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2384" y="2215408"/>
            <a:ext cx="342351" cy="342351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6528816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D9E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5294376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Оставил заявку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5294376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Описание, категория, фото. В приложении категорию подсказывает модель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7159752" y="3246120"/>
            <a:ext cx="128016" cy="0"/>
          </a:xfrm>
          <a:prstGeom prst="line">
            <a:avLst/>
          </a:prstGeom>
          <a:noFill/>
          <a:ln w="19050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6" name="Shape 20"/>
          <p:cNvSpPr/>
          <p:nvPr/>
        </p:nvSpPr>
        <p:spPr>
          <a:xfrm>
            <a:off x="7324344" y="1828800"/>
            <a:ext cx="2057400" cy="28346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7552944" y="20574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952" y="2215408"/>
            <a:ext cx="342351" cy="342351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8787384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D9E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3"/>
          <p:cNvSpPr txBox="1"/>
          <p:nvPr/>
        </p:nvSpPr>
        <p:spPr>
          <a:xfrm>
            <a:off x="7552944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Видит статус</a:t>
            </a:r>
            <a:endParaRPr lang="en-US" sz="1550" dirty="0"/>
          </a:p>
        </p:txBody>
      </p:sp>
      <p:sp>
        <p:nvSpPr>
          <p:cNvPr id="31" name="Text 24"/>
          <p:cNvSpPr txBox="1"/>
          <p:nvPr/>
        </p:nvSpPr>
        <p:spPr>
          <a:xfrm>
            <a:off x="7552944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Номер, срок, сообщение при каждой смене статуса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9418320" y="3246120"/>
            <a:ext cx="128016" cy="0"/>
          </a:xfrm>
          <a:prstGeom prst="line">
            <a:avLst/>
          </a:prstGeom>
          <a:noFill/>
          <a:ln w="19050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33" name="Shape 26"/>
          <p:cNvSpPr/>
          <p:nvPr/>
        </p:nvSpPr>
        <p:spPr>
          <a:xfrm>
            <a:off x="9582912" y="1828800"/>
            <a:ext cx="2057400" cy="283464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9811512" y="20574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69520" y="2215408"/>
            <a:ext cx="342351" cy="342351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1045952" y="210312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D5D9E6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5</a:t>
            </a:r>
            <a:endParaRPr lang="en-US" sz="2000" dirty="0"/>
          </a:p>
        </p:txBody>
      </p:sp>
      <p:sp>
        <p:nvSpPr>
          <p:cNvPr id="37" name="Text 29"/>
          <p:cNvSpPr txBox="1"/>
          <p:nvPr/>
        </p:nvSpPr>
        <p:spPr>
          <a:xfrm>
            <a:off x="9811512" y="2852928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Принял работу</a:t>
            </a:r>
            <a:endParaRPr lang="en-US" sz="1550" dirty="0"/>
          </a:p>
        </p:txBody>
      </p:sp>
      <p:sp>
        <p:nvSpPr>
          <p:cNvPr id="38" name="Text 30"/>
          <p:cNvSpPr txBox="1"/>
          <p:nvPr/>
        </p:nvSpPr>
        <p:spPr>
          <a:xfrm>
            <a:off x="9811512" y="3246120"/>
            <a:ext cx="16916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Фото «было - стало», оценка или повторная заявка</a:t>
            </a:r>
            <a:endParaRPr lang="en-US" sz="1250" dirty="0"/>
          </a:p>
        </p:txBody>
      </p:sp>
      <p:sp>
        <p:nvSpPr>
          <p:cNvPr id="39" name="says:-54386:20000"/>
          <p:cNvSpPr/>
          <p:nvPr/>
        </p:nvSpPr>
        <p:spPr>
          <a:xfrm>
            <a:off x="1801368" y="4983480"/>
            <a:ext cx="5212080" cy="868680"/>
          </a:xfrm>
          <a:prstGeom prst="wedgeRoundRectCallout">
            <a:avLst>
              <a:gd name="adj1" fmla="val -54386"/>
              <a:gd name="adj2" fmla="val 20000"/>
              <a:gd name="adj3" fmla="val 16667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sp>
        <p:nvSpPr>
          <p:cNvPr id="40" name="Text 32"/>
          <p:cNvSpPr txBox="1"/>
          <p:nvPr/>
        </p:nvSpPr>
        <p:spPr>
          <a:xfrm>
            <a:off x="1947672" y="5038344"/>
            <a:ext cx="491947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Заявка № 1542 «Протечка» принята в работу. Срок: до 18:40. Кнопка в сообщении откроет заявку</a:t>
            </a:r>
            <a:endParaRPr lang="en-US" sz="1300" dirty="0"/>
          </a:p>
        </p:txBody>
      </p:sp>
      <p:pic>
        <p:nvPicPr>
          <p:cNvPr id="41" name="Image 6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5088636"/>
            <a:ext cx="1005840" cy="1005840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7406640" y="512064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 ведёт короткие диалоги, статусы и уведомления, мини-приложение отвечает за формы, списки и историю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Две опоры продукта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94960" cy="470916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1783080"/>
            <a:ext cx="685800" cy="6858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19476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91640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Заявки: редко, но больно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822960" y="26974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Редкое, но самое болезненное событие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Полный цикл: подача, работа, исполнитель, приёмка жителем, оценка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Приводит жителя в бот, но удержать его одними заявками нельзя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822960" y="4206240"/>
            <a:ext cx="4846320" cy="1783080"/>
          </a:xfrm>
          <a:prstGeom prst="roundRect">
            <a:avLst>
              <a:gd name="adj" fmla="val 7179"/>
            </a:avLst>
          </a:prstGeom>
          <a:solidFill>
            <a:srgbClr val="F7F9FC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1069848" y="43434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№ 1542 «Протечка», срок до 18:40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09:12  подана с фото, принята через 28 минут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15:30  на приёмке, житель принял работу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Ход заявки: каждый шаг - сообщение в MAX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245352" y="1508760"/>
            <a:ext cx="5394960" cy="4709160"/>
          </a:xfrm>
          <a:prstGeom prst="roundRect">
            <a:avLst>
              <a:gd name="adj" fmla="val 3883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519672" y="1783080"/>
            <a:ext cx="685800" cy="685800"/>
          </a:xfrm>
          <a:prstGeom prst="ellipse">
            <a:avLst/>
          </a:prstGeom>
          <a:solidFill>
            <a:srgbClr val="FE781A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947672"/>
            <a:ext cx="356616" cy="356616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7388352" y="190195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Счётчики: каждый месяц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6519672" y="2697480"/>
            <a:ext cx="4892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Фото, распознанное значение, подтверждение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Расход и сравнение со средним по дому</a:t>
            </a:r>
            <a:endParaRPr lang="en-US" sz="14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Напоминания в окно подачи и перед поверкой</a:t>
            </a:r>
            <a:endParaRPr lang="en-US" sz="1450" dirty="0"/>
          </a:p>
        </p:txBody>
      </p:sp>
      <p:sp>
        <p:nvSpPr>
          <p:cNvPr id="17" name="Shape 12"/>
          <p:cNvSpPr/>
          <p:nvPr/>
        </p:nvSpPr>
        <p:spPr>
          <a:xfrm>
            <a:off x="6519672" y="4206240"/>
            <a:ext cx="4846320" cy="1783080"/>
          </a:xfrm>
          <a:prstGeom prst="roundRect">
            <a:avLst>
              <a:gd name="adj" fmla="val 7179"/>
            </a:avLst>
          </a:prstGeom>
          <a:solidFill>
            <a:srgbClr val="F7F9FC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6766560" y="4343400"/>
            <a:ext cx="4480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+820 ₽ к августу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+640  ГВС: расход вырос на 4 м³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+180  содержание: новый тариф с 01.09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Разбор квитанции: почему выросла сумма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Чего нет в обычном боте заявок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3547872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76479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1918411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72768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Склейка коллективных заявок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«На это уже пожаловались 7 соседей»: одна группа на стояк вместо дюжины дублей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15968" y="1508760"/>
            <a:ext cx="3547872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0" y="176479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1918411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0096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Исполнитель и приёмка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Мастер жмёт «выехал - готово» и присылает фото, «выполнено» подтверждает житель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83296" y="1508760"/>
            <a:ext cx="3547872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39328" y="176479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947" y="1918411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07424" y="1783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Разбор квитанции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339328" y="256032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Рост суммы раскладывается на объём и тариф, спор уходит заявкой с расчётом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548640" y="3886200"/>
            <a:ext cx="3547872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804672" y="414223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8291" y="4295851"/>
            <a:ext cx="332842" cy="332842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1572768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кворума по площади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804672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«47 квартир - 38% площади»: председатель видит, прошло бы собрание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4315968" y="3886200"/>
            <a:ext cx="3547872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4572000" y="414223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5619" y="4295851"/>
            <a:ext cx="332842" cy="332842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340096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 на подъезде</a:t>
            </a:r>
            <a:endParaRPr lang="en-US" sz="15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0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Дом уже выбран, остаются согласие и номер квартиры</a:t>
            </a:r>
            <a:endParaRPr lang="en-US" sz="1300" dirty="0"/>
          </a:p>
        </p:txBody>
      </p:sp>
      <p:sp>
        <p:nvSpPr>
          <p:cNvPr id="30" name="Shape 22"/>
          <p:cNvSpPr/>
          <p:nvPr/>
        </p:nvSpPr>
        <p:spPr>
          <a:xfrm>
            <a:off x="8083296" y="3886200"/>
            <a:ext cx="3547872" cy="2148840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8339328" y="4142232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92947" y="4295851"/>
            <a:ext cx="332842" cy="332842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9107424" y="4160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Заявка по звонку</a:t>
            </a:r>
            <a:endParaRPr lang="en-US" sz="1500" dirty="0"/>
          </a:p>
        </p:txBody>
      </p:sp>
      <p:sp>
        <p:nvSpPr>
          <p:cNvPr id="34" name="Text 25"/>
          <p:cNvSpPr txBox="1"/>
          <p:nvPr/>
        </p:nvSpPr>
        <p:spPr>
          <a:xfrm>
            <a:off x="8339328" y="493776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Звонок диспетчеру попадает в тот же прозрачный конвейер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13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это выглядит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704088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Экраны мини-приложения на демо-данных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2105395" cy="4343400"/>
          </a:xfrm>
          <a:prstGeom prst="roundRect">
            <a:avLst>
              <a:gd name="adj" fmla="val 9555"/>
            </a:avLst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548AB">
                <a:alpha val="100000"/>
              </a:srgbClr>
            </a:outerShdw>
          </a:effectLst>
        </p:spPr>
      </p:sp>
      <p:pic>
        <p:nvPicPr>
          <p:cNvPr id="7" name="Image 1" descr="/Users/k1rles/papka/code/vkmax-mobilization/docs/preza/screens/01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1922515" cy="41605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365760" y="5833872"/>
            <a:ext cx="2471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Главная: заявка на приёмке, окно показаний, опрос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544066" y="1371600"/>
            <a:ext cx="2105395" cy="4343400"/>
          </a:xfrm>
          <a:prstGeom prst="roundRect">
            <a:avLst>
              <a:gd name="adj" fmla="val 9555"/>
            </a:avLst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548AB">
                <a:alpha val="100000"/>
              </a:srgbClr>
            </a:outerShdw>
          </a:effectLst>
        </p:spPr>
      </p:sp>
      <p:pic>
        <p:nvPicPr>
          <p:cNvPr id="10" name="Image 2" descr="/Users/k1rles/papka/code/vkmax-mobilization/docs/preza/screens/02-new-reque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5506" y="1463040"/>
            <a:ext cx="1922515" cy="41605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3361186" y="5833872"/>
            <a:ext cx="2471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Заявка: модель подсказала категорию, соседи уже сообщили</a:t>
            </a:r>
            <a:endParaRPr lang="en-US" sz="1200" dirty="0"/>
          </a:p>
        </p:txBody>
      </p:sp>
      <p:sp>
        <p:nvSpPr>
          <p:cNvPr id="12" name="Shape 7"/>
          <p:cNvSpPr/>
          <p:nvPr/>
        </p:nvSpPr>
        <p:spPr>
          <a:xfrm>
            <a:off x="6539491" y="1371600"/>
            <a:ext cx="2105395" cy="4343400"/>
          </a:xfrm>
          <a:prstGeom prst="roundRect">
            <a:avLst>
              <a:gd name="adj" fmla="val 9555"/>
            </a:avLst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548AB">
                <a:alpha val="100000"/>
              </a:srgbClr>
            </a:outerShdw>
          </a:effectLst>
        </p:spPr>
      </p:sp>
      <p:pic>
        <p:nvPicPr>
          <p:cNvPr id="13" name="Image 3" descr="/Users/k1rles/papka/code/vkmax-mobilization/docs/preza/screens/03-reque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0931" y="1463040"/>
            <a:ext cx="1922515" cy="41605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356611" y="5833872"/>
            <a:ext cx="2471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Статус, срок и ход заявки</a:t>
            </a:r>
            <a:endParaRPr lang="en-US" sz="1200" dirty="0"/>
          </a:p>
        </p:txBody>
      </p:sp>
      <p:sp>
        <p:nvSpPr>
          <p:cNvPr id="15" name="Shape 9"/>
          <p:cNvSpPr/>
          <p:nvPr/>
        </p:nvSpPr>
        <p:spPr>
          <a:xfrm>
            <a:off x="9534917" y="1371600"/>
            <a:ext cx="2105395" cy="4343400"/>
          </a:xfrm>
          <a:prstGeom prst="roundRect">
            <a:avLst>
              <a:gd name="adj" fmla="val 9555"/>
            </a:avLst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548AB">
                <a:alpha val="100000"/>
              </a:srgbClr>
            </a:outerShdw>
          </a:effectLst>
        </p:spPr>
      </p:sp>
      <p:pic>
        <p:nvPicPr>
          <p:cNvPr id="16" name="Image 4" descr="/Users/k1rles/papka/code/vkmax-mobilization/docs/preza/screens/04-meters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6357" y="1463040"/>
            <a:ext cx="1922515" cy="41605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352037" y="5833872"/>
            <a:ext cx="24711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Показания: расход и сравнение с домом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14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Кабинет УК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1621048"/>
            <a:ext cx="342351" cy="3423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447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Заявки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181051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Сообщение о каждой новой заявке, группы коллективных заявок, назначение исполнителя, просроченные заявки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2809768"/>
            <a:ext cx="342351" cy="3423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63347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Приём и доступ в квартиры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417320" y="299923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Запись жителей на приём, сбор окон доступа: «ответили 9 из 14»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048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3998488"/>
            <a:ext cx="342351" cy="34235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382219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Дома и объявления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417320" y="418795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Жители, подтверждение квартир, показания, объявления в домовые чаты, QR для подъездов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0292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5187208"/>
            <a:ext cx="342351" cy="34235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01091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417320" y="5376672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Время реакции, доля повторных, исполнители, каналы заявок, обезличенный бенчмарк с другими УК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812280" y="1417320"/>
            <a:ext cx="2211028" cy="4572000"/>
          </a:xfrm>
          <a:prstGeom prst="roundRect">
            <a:avLst>
              <a:gd name="adj" fmla="val 9098"/>
            </a:avLst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548AB">
                <a:alpha val="100000"/>
              </a:srgbClr>
            </a:outerShdw>
          </a:effectLst>
        </p:spPr>
      </p:sp>
      <p:pic>
        <p:nvPicPr>
          <p:cNvPr id="22" name="Image 5" descr="/Users/k1rles/papka/code/vkmax-mobilization/docs/preza/screens/05-admin-request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03720" y="1508760"/>
            <a:ext cx="2028148" cy="4389120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343348" y="1417320"/>
            <a:ext cx="2211028" cy="4572000"/>
          </a:xfrm>
          <a:prstGeom prst="roundRect">
            <a:avLst>
              <a:gd name="adj" fmla="val 9098"/>
            </a:avLst>
          </a:prstGeom>
          <a:solidFill>
            <a:srgbClr val="0A1A3E"/>
          </a:solidFill>
          <a:ln w="1270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548AB">
                <a:alpha val="100000"/>
              </a:srgbClr>
            </a:outerShdw>
          </a:effectLst>
        </p:spPr>
      </p:sp>
      <p:pic>
        <p:nvPicPr>
          <p:cNvPr id="24" name="Image 6" descr="/Users/k1rles/papka/code/vkmax-mobilization/docs/preza/screens/06-analytic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34788" y="1508760"/>
            <a:ext cx="2028148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15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Возможности MAX сверх минимума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94960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777240" y="178308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248" y="1941088"/>
            <a:ext cx="342351" cy="3423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691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Домовые чаты</a:t>
            </a:r>
            <a:endParaRPr lang="en-US" sz="1550" dirty="0"/>
          </a:p>
        </p:txBody>
      </p:sp>
      <p:sp>
        <p:nvSpPr>
          <p:cNvPr id="9" name="Text 5"/>
          <p:cNvSpPr txBox="1"/>
          <p:nvPr/>
        </p:nvSpPr>
        <p:spPr>
          <a:xfrm>
            <a:off x="1645920" y="2039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 в чате дома: привязка к дому, объявления УК, список закрепов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48640" y="2971800"/>
            <a:ext cx="5394960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77240" y="324612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3404128"/>
            <a:ext cx="342351" cy="3423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45920" y="3154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Три уровня уведомлений</a:t>
            </a:r>
            <a:endParaRPr lang="en-US" sz="1550" dirty="0"/>
          </a:p>
        </p:txBody>
      </p:sp>
      <p:sp>
        <p:nvSpPr>
          <p:cNvPr id="14" name="Text 9"/>
          <p:cNvSpPr txBox="1"/>
          <p:nvPr/>
        </p:nvSpPr>
        <p:spPr>
          <a:xfrm>
            <a:off x="1645920" y="3502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 звуком, без звука или выключены, по категориям. Статусы своих заявок не отключаются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434840"/>
            <a:ext cx="5394960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77240" y="470916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248" y="4867168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461772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Живые сообщения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1645920" y="496519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Карточка исполнителя и приёмка редактируются на месте, а не множатся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6217920" y="1508760"/>
            <a:ext cx="5394960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46520" y="178308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528" y="1941088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15200" y="16916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Диплинки и QR</a:t>
            </a:r>
            <a:endParaRPr lang="en-US" sz="1550" dirty="0"/>
          </a:p>
        </p:txBody>
      </p:sp>
      <p:sp>
        <p:nvSpPr>
          <p:cNvPr id="24" name="Text 17"/>
          <p:cNvSpPr txBox="1"/>
          <p:nvPr/>
        </p:nvSpPr>
        <p:spPr>
          <a:xfrm>
            <a:off x="7315200" y="203911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Приглашения сотрудников и арендаторов, подъездный QR, демо-доступ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6217920" y="2971800"/>
            <a:ext cx="5394960" cy="1234440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6446520" y="324612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4528" y="3404128"/>
            <a:ext cx="342351" cy="342351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7315200" y="3154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Связка бот + мини-приложение</a:t>
            </a:r>
            <a:endParaRPr lang="en-US" sz="1550" dirty="0"/>
          </a:p>
        </p:txBody>
      </p:sp>
      <p:sp>
        <p:nvSpPr>
          <p:cNvPr id="29" name="Text 21"/>
          <p:cNvSpPr txBox="1"/>
          <p:nvPr/>
        </p:nvSpPr>
        <p:spPr>
          <a:xfrm>
            <a:off x="7315200" y="3502152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Уведомление открывает нужную заявку в приложении, сотруднику - в кабинете УК</a:t>
            </a:r>
            <a:endParaRPr lang="en-US" sz="1250" dirty="0"/>
          </a:p>
        </p:txBody>
      </p:sp>
      <p:sp>
        <p:nvSpPr>
          <p:cNvPr id="30" name="says:56410:20000"/>
          <p:cNvSpPr/>
          <p:nvPr/>
        </p:nvSpPr>
        <p:spPr>
          <a:xfrm>
            <a:off x="6812280" y="4983480"/>
            <a:ext cx="3566160" cy="868680"/>
          </a:xfrm>
          <a:prstGeom prst="wedgeRoundRectCallout">
            <a:avLst>
              <a:gd name="adj1" fmla="val 56410"/>
              <a:gd name="adj2" fmla="val 20000"/>
              <a:gd name="adj3" fmla="val 16667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6958584" y="5038344"/>
            <a:ext cx="3273552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 настоящих мастеров уже стоит MAX</a:t>
            </a:r>
            <a:endParaRPr lang="en-US" sz="1300" dirty="0"/>
          </a:p>
        </p:txBody>
      </p:sp>
      <p:pic>
        <p:nvPicPr>
          <p:cNvPr id="32" name="Image 6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25328" y="5088636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16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Ожидаемый эффект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3716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Если житель сообщает о проблеме в MAX и сам принимает работу, заявка регистрируется быстрее, а статус «выполнено» становится фактом, потому что его подтверждает вторая сторона</a:t>
            </a:r>
            <a:endParaRPr lang="en-US" sz="155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3547872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822960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E781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&lt; 1 мин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от проблемы до заявки с номером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гипотеза, замерим на пилоте: сейчас поиск телефона и дозвон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15968" y="2377440"/>
            <a:ext cx="3547872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4590288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72 ч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4590288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самый длинный срок категории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4590288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норматив ПП РФ № 416, п. 36: 10 рабочих дней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8083296" y="2377440"/>
            <a:ext cx="3547872" cy="192024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8357616" y="25603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 группа</a:t>
            </a:r>
            <a:endParaRPr lang="en-US" sz="3200" dirty="0"/>
          </a:p>
        </p:txBody>
      </p:sp>
      <p:sp>
        <p:nvSpPr>
          <p:cNvPr id="16" name="Text 13"/>
          <p:cNvSpPr txBox="1"/>
          <p:nvPr/>
        </p:nvSpPr>
        <p:spPr>
          <a:xfrm>
            <a:off x="8357616" y="33375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вместо дюжины дублей со стояка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357616" y="3703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склейка по дому, категории и окну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Как проверим после запуска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4983480"/>
            <a:ext cx="5486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Время реакции УК рядом со сроком категории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работ, принятых жителем, против закрытых по таймауту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повторных заявок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498348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заявок цифрой против записанных со звонка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показаний без визита и звонка</a:t>
            </a:r>
            <a:endParaRPr lang="en-US" sz="135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Охват: доля квартир дома в продукте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17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Границы MVP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3547872" cy="502920"/>
          </a:xfrm>
          <a:prstGeom prst="roundRect">
            <a:avLst>
              <a:gd name="adj" fmla="val 49091"/>
            </a:avLst>
          </a:prstGeom>
          <a:solidFill>
            <a:srgbClr val="0958D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Must: сделано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1945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Согласие на ПД и онбординг в боте и приложении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Заявки полным циклом с ролью УК и уведомлениями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Счётчики: окно, проверка, поверка, расход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Карточка дома, опросы, домовые чаты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Роли в УК, приглашения, демо-доступ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Аналитика УК, Docker, README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4315968" y="1463040"/>
            <a:ext cx="3547872" cy="502920"/>
          </a:xfrm>
          <a:prstGeom prst="roundRect">
            <a:avLst>
              <a:gd name="adj" fmla="val 49091"/>
            </a:avLst>
          </a:prstGeom>
          <a:solidFill>
            <a:srgbClr val="1E7CF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Should: сделано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407408" y="21945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OCR показаний и подсказка категории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Подтверждение квартиры, квитанции, демо-оплата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Склейка заявок, QR, исполнитель и приёмка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Приём и сбор доступа, разбор квитанции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Прогноз кворума, заявка по звонку, бенчмарк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8083296" y="1463040"/>
            <a:ext cx="3547872" cy="502920"/>
          </a:xfrm>
          <a:prstGeom prst="roundRect">
            <a:avLst>
              <a:gd name="adj" fmla="val 49091"/>
            </a:avLst>
          </a:prstGeom>
          <a:solidFill>
            <a:srgbClr val="17326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Won't: сознательно нет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74736" y="2194560"/>
            <a:ext cx="33832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Реальная оплата и эквайринг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Юридически значимое ОСС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Интеграция с ГИС ЖКХ и биллингом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Кабинет оператора платформы</a:t>
            </a:r>
            <a:endParaRPr lang="en-US" sz="135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Своя копия сервиса у каждой УК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18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Архитектура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2788920"/>
            <a:ext cx="2103120" cy="1005840"/>
          </a:xfrm>
          <a:prstGeom prst="roundRect">
            <a:avLst>
              <a:gd name="adj" fmla="val 10909"/>
            </a:avLst>
          </a:prstGeom>
          <a:solidFill>
            <a:srgbClr val="0958D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685800" y="27889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D5D9E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бот, мини-приложение, домовые чаты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3200400" y="2788920"/>
            <a:ext cx="1737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73267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337560" y="27889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nginx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HTTPS, разводит по путям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0" y="150876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73267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623560" y="150876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React + TypeScript, max-ui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0" y="283464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2" name="Text 9"/>
          <p:cNvSpPr txBox="1"/>
          <p:nvPr/>
        </p:nvSpPr>
        <p:spPr>
          <a:xfrm>
            <a:off x="5623560" y="283464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FastAPI, вебхук бота maxo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0" y="4160520"/>
            <a:ext cx="228600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73267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623560" y="416052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worker, scheduler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taskiq: рассылки, напоминания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8503920" y="2148840"/>
            <a:ext cx="3136392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73267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41080" y="2148840"/>
            <a:ext cx="28620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PostgreSQL 16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дома, заявки, показания, события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503920" y="3474720"/>
            <a:ext cx="3136392" cy="73152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2700">
            <a:solidFill>
              <a:srgbClr val="17326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41080" y="3474720"/>
            <a:ext cx="2862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Redis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очередь задач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8503920" y="4617720"/>
            <a:ext cx="313639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17326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641080" y="4617720"/>
            <a:ext cx="286207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Yandex Vision OCR, AI Studio</a:t>
            </a:r>
            <a:endParaRPr lang="en-US" sz="15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показания по фото, категория заявки; необязательны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2651760" y="3291840"/>
            <a:ext cx="548640" cy="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headEnd type="triangle"/>
            <a:tailEnd type="triangle"/>
          </a:ln>
        </p:spPr>
      </p:sp>
      <p:sp>
        <p:nvSpPr>
          <p:cNvPr id="22" name="Shape 19"/>
          <p:cNvSpPr/>
          <p:nvPr/>
        </p:nvSpPr>
        <p:spPr>
          <a:xfrm flipV="1">
            <a:off x="4937760" y="1965960"/>
            <a:ext cx="548640" cy="109728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937760" y="3291840"/>
            <a:ext cx="548640" cy="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 flipV="1">
            <a:off x="7772400" y="2606040"/>
            <a:ext cx="731520" cy="54864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5" name="Shape 22"/>
          <p:cNvSpPr/>
          <p:nvPr/>
        </p:nvSpPr>
        <p:spPr>
          <a:xfrm>
            <a:off x="7772400" y="3429000"/>
            <a:ext cx="731520" cy="41148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6" name="Shape 23"/>
          <p:cNvSpPr/>
          <p:nvPr/>
        </p:nvSpPr>
        <p:spPr>
          <a:xfrm>
            <a:off x="6629400" y="3749040"/>
            <a:ext cx="0" cy="41148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 flipV="1">
            <a:off x="7772400" y="3977640"/>
            <a:ext cx="731520" cy="640080"/>
          </a:xfrm>
          <a:prstGeom prst="line">
            <a:avLst/>
          </a:prstGeom>
          <a:noFill/>
          <a:ln w="15875">
            <a:solidFill>
              <a:srgbClr val="173267"/>
            </a:solidFill>
            <a:prstDash val="solid"/>
            <a:tailEnd type="triangle"/>
          </a:ln>
        </p:spPr>
      </p:sp>
      <p:sp>
        <p:nvSpPr>
          <p:cNvPr id="28" name="Shape 25"/>
          <p:cNvSpPr/>
          <p:nvPr/>
        </p:nvSpPr>
        <p:spPr>
          <a:xfrm>
            <a:off x="7772400" y="3566160"/>
            <a:ext cx="731520" cy="1417320"/>
          </a:xfrm>
          <a:prstGeom prst="line">
            <a:avLst/>
          </a:prstGeom>
          <a:noFill/>
          <a:ln w="15875">
            <a:solidFill>
              <a:srgbClr val="173267"/>
            </a:solidFill>
            <a:prstDash val="dash"/>
            <a:tailEnd type="triangle"/>
          </a:ln>
        </p:spPr>
      </p:sp>
      <p:sp>
        <p:nvSpPr>
          <p:cNvPr id="29" name="Shape 26"/>
          <p:cNvSpPr/>
          <p:nvPr/>
        </p:nvSpPr>
        <p:spPr>
          <a:xfrm flipH="1" flipV="1">
            <a:off x="2651760" y="3611880"/>
            <a:ext cx="2834640" cy="1005840"/>
          </a:xfrm>
          <a:prstGeom prst="line">
            <a:avLst/>
          </a:prstGeom>
          <a:noFill/>
          <a:ln w="15875">
            <a:solidFill>
              <a:srgbClr val="173267"/>
            </a:solidFill>
            <a:prstDash val="dash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548640" y="5806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бот на все УК: мультитенант на общей схеме, изоляция фильтром по организации. Docker Compose поднимает всё одной командой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19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Данные и интеграции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165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1945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реальных домов в справочнике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256032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2560320" y="21945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города: Москва, Санкт-Петербург, Казань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4572000" y="14173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34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4572000" y="2194560"/>
            <a:ext cx="1783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реальные УК из карточек домов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200400"/>
            <a:ext cx="5669280" cy="301752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33832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Открытые данные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3840480"/>
            <a:ext cx="5212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Реформа ЖКХ: дома (год, этажность, площадь, помещения) и реестр УО, выгрузка на сентябрь 2026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OpenStreetMap: координаты через Nominatim и Overpass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ГИС ЖКХ: справочники НСИ для видов счётчиков и услуг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92240" y="1417320"/>
            <a:ext cx="5148072" cy="480060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766560" y="1600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Модельные данные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766560" y="205740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Начисления, квитанции, лицевые счета, показания: синтетика, помечена в интерфейсе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Пять демо-УК с заведомо неверными ИНН и историей за 6 месяцев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Лицевой счёт у всех квартир - её номер с нулями до 10 цифр, например 0000000012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Оплата демонстрационная, деньги не списываются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766560" y="4160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Для продакшена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766560" y="4572000"/>
            <a:ext cx="4663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Выгрузка биллинга УК в таблицу начислений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ГИС ЖКХ API для домов и лицевых счетов</a:t>
            </a:r>
            <a:endParaRPr lang="en-US" sz="13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ЕСИА или письмо на домен УК для проверки организации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20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Правовой контур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508760"/>
            <a:ext cx="53949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764792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2680" y="1922800"/>
            <a:ext cx="342351" cy="342351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64592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ПП РФ № 40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5603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Жэка - канал, через который УК работает с жителями в MAX: обращения и запись на приём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17920" y="1508760"/>
            <a:ext cx="53949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473952" y="1764792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960" y="1922800"/>
            <a:ext cx="342351" cy="342351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7315200" y="187452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ПП РФ № 416</a:t>
            </a:r>
            <a:endParaRPr lang="en-US" sz="1500" dirty="0"/>
          </a:p>
        </p:txBody>
      </p:sp>
      <p:sp>
        <p:nvSpPr>
          <p:cNvPr id="14" name="Text 9"/>
          <p:cNvSpPr txBox="1"/>
          <p:nvPr/>
        </p:nvSpPr>
        <p:spPr>
          <a:xfrm>
            <a:off x="6473952" y="256032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п. 35: ответ тем же каналом. п. 36: сроки всех категорий короче норматива в 10 рабочих дней. п. 38: заявки хранятся 3 года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548640" y="3886200"/>
            <a:ext cx="53949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04672" y="4142232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680" y="4300240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645920" y="4251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152-ФЗ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804672" y="49377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Согласие до выбора дома, версия и дата согласия в базе. Данные жителя видит только УК его дома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6217920" y="3886200"/>
            <a:ext cx="5394960" cy="210312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473952" y="4142232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31960" y="4300240"/>
            <a:ext cx="342351" cy="342351"/>
          </a:xfrm>
          <a:prstGeom prst="rect">
            <a:avLst/>
          </a:prstGeom>
        </p:spPr>
      </p:pic>
      <p:sp>
        <p:nvSpPr>
          <p:cNvPr id="23" name="Text 16"/>
          <p:cNvSpPr txBox="1"/>
          <p:nvPr/>
        </p:nvSpPr>
        <p:spPr>
          <a:xfrm>
            <a:off x="7315200" y="425196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Опросы - не ОСС</a:t>
            </a:r>
            <a:endParaRPr lang="en-US" sz="1500" dirty="0"/>
          </a:p>
        </p:txBody>
      </p:sp>
      <p:sp>
        <p:nvSpPr>
          <p:cNvPr id="24" name="Text 17"/>
          <p:cNvSpPr txBox="1"/>
          <p:nvPr/>
        </p:nvSpPr>
        <p:spPr>
          <a:xfrm>
            <a:off x="6473952" y="4937760"/>
            <a:ext cx="4892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Опрос помечен как предварительный: это репетиция собрания с прогнозом кворума, а не юридическое решение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21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Что сохраняется, что адаптируется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5394960" cy="393192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822960" y="169164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Ядро: переносится без изменений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286000"/>
            <a:ext cx="48920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Проблема жителя и сценарий заявки с приёмкой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Один бот на все УК, модель данных дом - квартира - житель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Счётчики, опросы, домовые чаты, роли в УК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Интерфейс бота и мини-приложения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45352" y="1463040"/>
            <a:ext cx="5394960" cy="3931920"/>
          </a:xfrm>
          <a:prstGeom prst="roundRect">
            <a:avLst>
              <a:gd name="adj" fmla="val 4651"/>
            </a:avLst>
          </a:prstGeom>
          <a:solidFill>
            <a:srgbClr val="F7F9FC"/>
          </a:solidFill>
          <a:ln w="12700">
            <a:solidFill>
              <a:srgbClr val="D5D9E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19672" y="169164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Переменная часть: меняется под регион и УК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19672" y="2423160"/>
            <a:ext cx="4892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Справочник домов: выгрузка Реформы ЖКХ по региону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Тарифы, окна подачи показаний, часовой пояс дома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Категории и сроки заявок под регламент УК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Интеграции: биллинг УК, ГИС ЖКХ, региональные системы</a:t>
            </a:r>
            <a:endParaRPr lang="en-US" sz="1400" dirty="0"/>
          </a:p>
          <a:p>
            <a:pPr marL="203200" indent="-2032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Бренд: white-label бот на токене УК на том же ядре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557784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D5D9E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7240" y="562356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Новый регион без изменений ядра: </a:t>
            </a:r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скрипт загружает выгрузку КР 1.1 и реестр УО Реформы ЖКХ, под регион настраиваются выгрузка и разбор адресов. УК подключается сама по ИНН и зовёт сотрудников ссылками, своих ИТ-специалистов не нужно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22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Путь тиражирования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3749040"/>
            <a:ext cx="2606040" cy="246888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77240" y="3931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E781A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77240" y="443484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Пилот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77240" y="480060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 УК, 5-10 домов</a:t>
            </a:r>
            <a:endParaRPr lang="en-US" sz="125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166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[город пилота]. QR в подъездах, пост в домовом чате, сотрудники по приглашениям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77184" y="3182112"/>
            <a:ext cx="2606040" cy="3035808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3605784" y="3364992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3605784" y="38679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Город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3605784" y="4233672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все УК города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3605784" y="4599432"/>
            <a:ext cx="219456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Регистрация УК по ИНН, дома из реестра. Спрос жителей на неподключённые дома как аргумент для УК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205728" y="2615184"/>
            <a:ext cx="2606040" cy="3602736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434328" y="2798064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434328" y="33009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Регион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434328" y="3666744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Москва, СПб, Татарстан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434328" y="4032504"/>
            <a:ext cx="2194560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Скрипт выгрузки уже работает с КР 1.1 этих регионов, в демо 165 домов. Интеграция с биллингом крупных УК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034272" y="2048256"/>
            <a:ext cx="2606040" cy="4169664"/>
          </a:xfrm>
          <a:prstGeom prst="roundRect">
            <a:avLst>
              <a:gd name="adj" fmla="val 7018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1" name="Text 18"/>
          <p:cNvSpPr txBox="1"/>
          <p:nvPr/>
        </p:nvSpPr>
        <p:spPr>
          <a:xfrm>
            <a:off x="9262872" y="2231136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958D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19"/>
          <p:cNvSpPr txBox="1"/>
          <p:nvPr/>
        </p:nvSpPr>
        <p:spPr>
          <a:xfrm>
            <a:off x="9262872" y="273405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Сети и ТСЖ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9262872" y="3099816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white-label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262872" y="3465576"/>
            <a:ext cx="2194560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Свой бот на токене УК на общем ядре. ТСЖ и ЖСК с той же механикой</a:t>
            </a:r>
            <a:endParaRPr lang="en-US" sz="125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146304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Рынок: </a:t>
            </a:r>
            <a:pPr indent="0" marL="0">
              <a:buNone/>
            </a:pPr>
            <a:r>
              <a:rPr lang="en-US" sz="13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TAM - 49 312 УО в реестре РФ. SAM - 59 853 МКД в Москве, Санкт-Петербурге и Казани. SOM - [оценка на 1-2 года]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23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Пилот и внедрение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648" y="1621048"/>
            <a:ext cx="342351" cy="342351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417320" y="14630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Где</a:t>
            </a:r>
            <a:endParaRPr lang="en-US" sz="1550" dirty="0"/>
          </a:p>
        </p:txBody>
      </p:sp>
      <p:sp>
        <p:nvSpPr>
          <p:cNvPr id="8" name="Text 4"/>
          <p:cNvSpPr txBox="1"/>
          <p:nvPr/>
        </p:nvSpPr>
        <p:spPr>
          <a:xfrm>
            <a:off x="1417320" y="18288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[УК и 5-10 её домов, город]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548640" y="265176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48" y="2809768"/>
            <a:ext cx="342351" cy="342351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417320" y="26517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встраивается</a:t>
            </a:r>
            <a:endParaRPr lang="en-US" sz="1550" dirty="0"/>
          </a:p>
        </p:txBody>
      </p:sp>
      <p:sp>
        <p:nvSpPr>
          <p:cNvPr id="12" name="Text 7"/>
          <p:cNvSpPr txBox="1"/>
          <p:nvPr/>
        </p:nvSpPr>
        <p:spPr>
          <a:xfrm>
            <a:off x="1417320" y="30175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Диспетчер работает в кабинете вместо тетради. Звонки заводит заявкой, мастер получает карточку в MAX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548640" y="384048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648" y="3998488"/>
            <a:ext cx="342351" cy="342351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417320" y="384048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Кто нужен</a:t>
            </a:r>
            <a:endParaRPr lang="en-US" sz="1550" dirty="0"/>
          </a:p>
        </p:txBody>
      </p:sp>
      <p:sp>
        <p:nvSpPr>
          <p:cNvPr id="16" name="Text 10"/>
          <p:cNvSpPr txBox="1"/>
          <p:nvPr/>
        </p:nvSpPr>
        <p:spPr>
          <a:xfrm>
            <a:off x="1417320" y="420624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Владелец процесса в УК, диспетчер, 2-3 мастера, председатель совета дома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548640" y="5029200"/>
            <a:ext cx="658368" cy="65836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648" y="5187208"/>
            <a:ext cx="342351" cy="342351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417320" y="502920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Как придут жители</a:t>
            </a:r>
            <a:endParaRPr lang="en-US" sz="1550" dirty="0"/>
          </a:p>
        </p:txBody>
      </p:sp>
      <p:sp>
        <p:nvSpPr>
          <p:cNvPr id="20" name="Text 13"/>
          <p:cNvSpPr txBox="1"/>
          <p:nvPr/>
        </p:nvSpPr>
        <p:spPr>
          <a:xfrm>
            <a:off x="1417320" y="539496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QR у лифта, объявление в домовом чате, строка в квитанции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583680" y="1463040"/>
            <a:ext cx="5056632" cy="475488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22" name="Text 15"/>
          <p:cNvSpPr txBox="1"/>
          <p:nvPr/>
        </p:nvSpPr>
        <p:spPr>
          <a:xfrm>
            <a:off x="685800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Метрики пилота за 2 месяца</a:t>
            </a:r>
            <a:endParaRPr lang="en-US" sz="1500" dirty="0"/>
          </a:p>
        </p:txBody>
      </p:sp>
      <p:sp>
        <p:nvSpPr>
          <p:cNvPr id="23" name="Text 16"/>
          <p:cNvSpPr txBox="1"/>
          <p:nvPr/>
        </p:nvSpPr>
        <p:spPr>
          <a:xfrm>
            <a:off x="6858000" y="2240280"/>
            <a:ext cx="4572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Охват: [N]% квартир подключены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заявок цифрой: [N]%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Время реакции УК в пределах норматива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работ, принятых жителем: [N]%</a:t>
            </a:r>
            <a:endParaRPr lang="en-US" sz="14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Доля показаний через бота: [N]%</a:t>
            </a:r>
            <a:endParaRPr lang="en-US" sz="1450" dirty="0"/>
          </a:p>
        </p:txBody>
      </p:sp>
      <p:sp>
        <p:nvSpPr>
          <p:cNvPr id="24" name="Text 17"/>
          <p:cNvSpPr txBox="1"/>
          <p:nvPr/>
        </p:nvSpPr>
        <p:spPr>
          <a:xfrm>
            <a:off x="6858000" y="50749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0958D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Следующий шаг: все дома пилотной УК, затем соседние УК города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24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Ограничения, риски и допущения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548640" y="1463040"/>
            <a:ext cx="3547872" cy="475488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04672" y="1691640"/>
            <a:ext cx="640080" cy="640080"/>
          </a:xfrm>
          <a:prstGeom prst="ellipse">
            <a:avLst/>
          </a:prstGeom>
          <a:solidFill>
            <a:srgbClr val="FE781A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291" y="1845259"/>
            <a:ext cx="332842" cy="332842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572768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Ограничения MVP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804672" y="260604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Начисления и лицевые счета модельные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Организация регистрируется без проверки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Нет интеграции с ГИС ЖКХ и биллингом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Опрос не заменяет ОСС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315968" y="1463040"/>
            <a:ext cx="3547872" cy="475488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72000" y="16916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619" y="1845259"/>
            <a:ext cx="332842" cy="33284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340096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Ограничения MAX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4572000" y="260604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30 запросов в секунду на бота: рассылка на 1 000 жителей около 35 секунд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 не пишет первым, пока житель его не открыл: звонок заводит диспетчер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Бот помнит около 1 000 чатов: привязки чатов храним у себя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8083296" y="1463040"/>
            <a:ext cx="3547872" cy="475488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  <a:effectLst>
            <a:outerShdw sx="100000" sy="100000" kx="0" ky="0" algn="bl" rotWithShape="0" blurRad="101600" dist="38100" dir="5400000">
              <a:srgbClr val="0A1A3E">
                <a:alpha val="100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339328" y="1691640"/>
            <a:ext cx="640080" cy="64008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A1A3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947" y="1845259"/>
            <a:ext cx="332842" cy="3328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107424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Риски и ответы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8339328" y="2606040"/>
            <a:ext cx="30632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УК не хочет прозрачности: бенчмарк и спрос жителей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Пересечение с Госуслуги Дом: делаем то, чего там нет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Загрузка домов: публичный Nominatim - 1 запрос в секунду, Москва грузится около 18 часов. На масштабе свой Nominatim или DaData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Ошибки OCR: житель подтверждает значение</a:t>
            </a:r>
            <a:endParaRPr lang="en-US" sz="130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Персональные данные: согласие, доступ только своей УК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k1rles/papka/code/vkmax-mobilization/docs/preza/build/assets/telnyash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4495" y="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25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41148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3267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Источники</a:t>
            </a:r>
            <a:endParaRPr lang="en-US" sz="2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63040"/>
            <a:ext cx="110642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ПП РФ от 26.01.2026 № 40; Минстрой России, 2026: взаимодействие УК с жителями через MAX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ПП РФ от 15.05.2013 № 416 в ред. от 20.06.2026: правила управления МКД, пп. 34-38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Приказ Минстроя об информационном взаимодействии через ГИС ЖКХ и MAX (publication.pravo.gov.ru)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Росстат: жилищный фонд РФ, 2024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Реформа ЖКХ (reformagkh.ru): отчёт КР 1.1 и реестр УО, выгрузка 01.09.2026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ГИС ЖКХ (dom.gosuslugi.ru): справочники НСИ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© участники OpenStreetMap, ODbL: координаты домов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Документация MAX для разработчиков: dev.max.ru/docs</a:t>
            </a:r>
            <a:endParaRPr lang="en-US" sz="14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73267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Вебинары хакатона MAX, эксперт трека «Умный город» (Минстрой Псковской области): боли жителей и УК, Госуслуги Дом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577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B8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Где использовался ИИ: ИИ-ассистент был вспомогательным инструментом и писал код по планам и правилам команды; продуктовые решения, архитектура и проверка - за командой. В продукте ИИ подсказывает категорию заявки и распознаёт показания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118585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26</a:t>
            </a:r>
            <a:endParaRPr lang="en-US" sz="1000" dirty="0"/>
          </a:p>
        </p:txBody>
      </p:sp>
      <p:pic>
        <p:nvPicPr>
          <p:cNvPr id="3" name="Image 0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325880"/>
            <a:ext cx="4206240" cy="4206240"/>
          </a:xfrm>
          <a:prstGeom prst="rect">
            <a:avLst/>
          </a:prstGeom>
        </p:spPr>
      </p:pic>
      <p:pic>
        <p:nvPicPr>
          <p:cNvPr id="4" name="Image 1" descr="/Users/k1rles/papka/code/vkmax-mobilization/docs/preza/build/assets/zheka-circ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4008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1828800" y="658368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Жэка</a:t>
            </a:r>
            <a:endParaRPr lang="en-US" sz="3200" dirty="0"/>
          </a:p>
        </p:txBody>
      </p:sp>
      <p:sp>
        <p:nvSpPr>
          <p:cNvPr id="6" name="Text 2"/>
          <p:cNvSpPr txBox="1"/>
          <p:nvPr/>
        </p:nvSpPr>
        <p:spPr>
          <a:xfrm>
            <a:off x="1828800" y="12161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Коммуналкин</a:t>
            </a:r>
            <a:endParaRPr lang="en-US" sz="1800" dirty="0"/>
          </a:p>
        </p:txBody>
      </p:sp>
      <p:sp>
        <p:nvSpPr>
          <p:cNvPr id="7" name="Text 3"/>
          <p:cNvSpPr txBox="1"/>
          <p:nvPr/>
        </p:nvSpPr>
        <p:spPr>
          <a:xfrm>
            <a:off x="640080" y="246888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Unbounded" pitchFamily="34" charset="0"/>
                <a:ea typeface="Unbounded" pitchFamily="34" charset="-122"/>
                <a:cs typeface="Unbounded" pitchFamily="34" charset="-120"/>
              </a:rPr>
              <a:t>Спасибо!</a:t>
            </a:r>
            <a:endParaRPr lang="en-US" sz="4800" dirty="0"/>
          </a:p>
        </p:txBody>
      </p:sp>
      <p:sp>
        <p:nvSpPr>
          <p:cNvPr id="8" name="Text 4"/>
          <p:cNvSpPr txBox="1"/>
          <p:nvPr/>
        </p:nvSpPr>
        <p:spPr>
          <a:xfrm>
            <a:off x="640080" y="3657600"/>
            <a:ext cx="5669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Потекло, погасло, сломалось?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Пишите Жэке</a:t>
            </a:r>
            <a:endParaRPr lang="en-US" sz="20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493776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max.ru/t260_hakaton_max_bot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github.com/K1rL3s/vkmax-mobilization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Команда «Мобилизация»</a:t>
            </a:r>
            <a:endParaRPr lang="en-US" sz="1400" dirty="0"/>
          </a:p>
        </p:txBody>
      </p:sp>
      <p:pic>
        <p:nvPicPr>
          <p:cNvPr id="10" name="Image 2" descr="preencoded.png">
            <a:hlinkClick r:id="rId5" tooltip="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4937760"/>
            <a:ext cx="2743200" cy="256032"/>
          </a:xfrm>
          <a:prstGeom prst="rect">
            <a:avLst/>
          </a:prstGeom>
        </p:spPr>
      </p:pic>
      <p:pic>
        <p:nvPicPr>
          <p:cNvPr id="11" name="Image 3" descr="preencoded.png">
            <a:hlinkClick r:id="rId7" tooltip="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5193792"/>
            <a:ext cx="3291840" cy="2560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Команда «Мобилизация»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Жэка Коммуналкин</dc:title>
  <dc:subject>PptxGenJS Presentation</dc:subject>
  <dc:creator>PptxGenJS</dc:creator>
  <cp:lastModifiedBy>PptxGenJS</cp:lastModifiedBy>
  <cp:revision>1</cp:revision>
  <dcterms:created xsi:type="dcterms:W3CDTF">2026-09-27T18:02:48Z</dcterms:created>
  <dcterms:modified xsi:type="dcterms:W3CDTF">2026-09-27T18:02:48Z</dcterms:modified>
</cp:coreProperties>
</file>