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не оценивается, но по нему жюри проверяет решение. Перед сдачей собрать с COMMIT, см. AGENTS.md. Все ссылки открыть в инкогнито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Название, слоган и состав команды с ролями: критерий «Командное владение решением» просит роли и зоны ответственности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Формула проблемы из материалов трека: пользователь, контекст, результат, барьер, последствие. Факты отделены от гипотез. CustDev вставить обязательно: критерий «Пользовательская ценность» просит подтверждение данными или интервью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Организаторы просят разделять знаем, предполагаем и не знаем. Гипотезы проверяются метриками со слайда об эффекте после запуска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Скриншоты мини-приложения на мок-данных фронтенда. Сообщения бота показываем вживую в демо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Кандидат на платформенный бонус +0,15: возможность должна работать от начала до конца и быть описана в материалах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эффекта - гипотезы до запуска, так и проговаривать. Все метрики уже собираются в событиях и видны на дашборде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Сообщения уходят после коммита транзакции; вебхук отвечает за 30 секунд, тяжёлое уходит в taskiq. initData проверяется HMAC на токене бота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Масштабирование весит больше всех продуктовых критериев (35%). Числа МКД: выгрузка КР 1.1 Реформы ЖКХ от 01.09.2026: Москва 30 292, СПб 23 674, Казань 5 887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max.ru/t260_hakaton_max_bot" TargetMode="External"/><Relationship Id="rId3" Type="http://schemas.openxmlformats.org/officeDocument/2006/relationships/hyperlink" Target="https://github.com/K1rL3s/vkmax-mobilization" TargetMode="External"/><Relationship Id="rId4" Type="http://schemas.openxmlformats.org/officeDocument/2006/relationships/hyperlink" Target="https://vkmax.k1rles.ru/api/healthcheck" TargetMode="External"/><Relationship Id="rId5" Type="http://schemas.openxmlformats.org/officeDocument/2006/relationships/hyperlink" Target="https://vkmax.k1rles.ru/api/docs" TargetMode="External"/><Relationship Id="rId7" Type="http://schemas.openxmlformats.org/officeDocument/2006/relationships/hyperlink" Target="https://max.ru/t260_hakaton_max_bot?start=demo_resident_1" TargetMode="External"/><Relationship Id="rId9" Type="http://schemas.openxmlformats.org/officeDocument/2006/relationships/hyperlink" Target="https://max.ru/t260_hakaton_max_bot?start=demo_staff_1" TargetMode="External"/><Relationship Id="rId11" Type="http://schemas.openxmlformats.org/officeDocument/2006/relationships/hyperlink" Target="https://max.ru/t260_hakaton_max_bot?start=demo_admin_1" TargetMode="External"/><Relationship Id="rId1" Type="http://schemas.openxmlformats.org/officeDocument/2006/relationships/image" Target="../media/image-1-1.png"/><Relationship Id="rId6" Type="http://schemas.openxmlformats.org/officeDocument/2006/relationships/image" Target="../media/image-1-2.png"/><Relationship Id="rId8" Type="http://schemas.openxmlformats.org/officeDocument/2006/relationships/image" Target="../media/image-1-3.png"/><Relationship Id="rId10" Type="http://schemas.openxmlformats.org/officeDocument/2006/relationships/image" Target="../media/image-1-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hyperlink" Target="https://max.ru/t260_hakaton_max_bot" TargetMode="External"/><Relationship Id="rId7" Type="http://schemas.openxmlformats.org/officeDocument/2006/relationships/hyperlink" Target="https://github.com/K1rL3s/vkmax-mobilization" TargetMode="External"/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image" Target="../media/image-26-2.png"/><Relationship Id="rId4" Type="http://schemas.openxmlformats.org/officeDocument/2006/relationships/image" Target="../media/image-26-4.png"/><Relationship Id="rId6" Type="http://schemas.openxmlformats.org/officeDocument/2006/relationships/image" Target="../media/image-26-5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технической проверки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Служебный слайд: ссылки, доступы и порядок проверки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Ссылки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5059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 MAX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423160" y="24505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max.ru/t260_hakaton_max_bot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81635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Репозиторий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423160" y="28163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github.com/K1rL3s/vkmax-mobilization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18211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Commit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423160" y="31821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[hash сдаваемой версии]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3547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423160" y="35478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vkmax.k1rles.ru/api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9136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423160" y="39136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vkmax.k1rles.ru/api/docs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427939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Контракт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2423160" y="42793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openapi.yaml, DATA-API.yaml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64515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Токен API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423160" y="46451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Bearer 34c63235dea4b1fb95ce89a9f108fc18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501091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Логины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2423160" y="50109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нужны, вход по аккаунту MAX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53766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Лицевые счета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2423160" y="5376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 квартиры с нулями: 0000000012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7424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Окружение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2423160" y="57424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.env.example; без MAX_TOKEN локально все, кроме бота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309360" y="1828800"/>
            <a:ext cx="5330952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58368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Демо-доступ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583680" y="2468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Нажмите на роль: ссылка откроет бота в MAX, и он выдаст эту роль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583680" y="315468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demo_resident_1</a:t>
            </a:r>
            <a:endParaRPr lang="en-US" sz="1200" dirty="0"/>
          </a:p>
        </p:txBody>
      </p:sp>
      <p:pic>
        <p:nvPicPr>
          <p:cNvPr id="32" name="Image 1" descr="preencoded.png">
            <a:hlinkClick r:id="rId7" tooltip="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0" y="3154680"/>
            <a:ext cx="1920240" cy="384048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8641080" y="31546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житель: своя квартира, история за 6 месяцев</a:t>
            </a:r>
            <a:endParaRPr lang="en-US" sz="1250" dirty="0"/>
          </a:p>
        </p:txBody>
      </p:sp>
      <p:sp>
        <p:nvSpPr>
          <p:cNvPr id="34" name="Text 30"/>
          <p:cNvSpPr txBox="1"/>
          <p:nvPr/>
        </p:nvSpPr>
        <p:spPr>
          <a:xfrm>
            <a:off x="6583680" y="372160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demo_staff_1</a:t>
            </a:r>
            <a:endParaRPr lang="en-US" sz="1200" dirty="0"/>
          </a:p>
        </p:txBody>
      </p:sp>
      <p:pic>
        <p:nvPicPr>
          <p:cNvPr id="35" name="Image 2" descr="preencoded.png">
            <a:hlinkClick r:id="rId9" tooltip="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0" y="3721608"/>
            <a:ext cx="1920240" cy="384048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8641080" y="372160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сотрудник УК: заявки, показания</a:t>
            </a:r>
            <a:endParaRPr lang="en-US" sz="1250" dirty="0"/>
          </a:p>
        </p:txBody>
      </p:sp>
      <p:sp>
        <p:nvSpPr>
          <p:cNvPr id="37" name="Text 32"/>
          <p:cNvSpPr txBox="1"/>
          <p:nvPr/>
        </p:nvSpPr>
        <p:spPr>
          <a:xfrm>
            <a:off x="6583680" y="4288536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demo_admin_1</a:t>
            </a:r>
            <a:endParaRPr lang="en-US" sz="1200" dirty="0"/>
          </a:p>
        </p:txBody>
      </p:sp>
      <p:pic>
        <p:nvPicPr>
          <p:cNvPr id="38" name="Image 3" descr="preencoded.png">
            <a:hlinkClick r:id="rId11" tooltip="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0" y="4288536"/>
            <a:ext cx="1920240" cy="38404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641080" y="428853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админ УК: дома, команда, аналитика</a:t>
            </a:r>
            <a:endParaRPr lang="en-US" sz="1250" dirty="0"/>
          </a:p>
        </p:txBody>
      </p:sp>
      <p:sp>
        <p:nvSpPr>
          <p:cNvPr id="40" name="Text 34"/>
          <p:cNvSpPr txBox="1"/>
          <p:nvPr/>
        </p:nvSpPr>
        <p:spPr>
          <a:xfrm>
            <a:off x="6583680" y="49377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Порядок проверки</a:t>
            </a:r>
            <a:endParaRPr lang="en-US" sz="1300" dirty="0"/>
          </a:p>
        </p:txBody>
      </p:sp>
      <p:sp>
        <p:nvSpPr>
          <p:cNvPr id="41" name="Text 35"/>
          <p:cNvSpPr txBox="1"/>
          <p:nvPr/>
        </p:nvSpPr>
        <p:spPr>
          <a:xfrm>
            <a:off x="6583680" y="5285232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Житель: заявка с фото и подсказкой категории, показания по фото. Сотрудник: принять заявку, отправить на приёмку. Житель: уведомление, приёмка и оценка в чате. Подробно - README, «Сценарий проверки»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zheka-f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695" y="0"/>
            <a:ext cx="6858000" cy="6858000"/>
          </a:xfrm>
          <a:prstGeom prst="rect">
            <a:avLst/>
          </a:prstGeom>
        </p:spPr>
      </p:pic>
      <p:pic>
        <p:nvPicPr>
          <p:cNvPr id="3" name="Image 1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828800" y="658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Жэка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1828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Коммуналкин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Потекло, погасло, сломалось? Пишите Жэке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3657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и мини-приложение в MAX для жителей многоквартирных домов и их управляющих компаний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Команда «Мобилизация» · Хакатон MAX, трек «Умный город», 2026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5166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Кирилл Лесовой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капитан, бэкенд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5166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Даниил Карпенко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фронтенд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58247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Даниил Неслуховский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246120" y="58247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Артаган Мальсагов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бэкенд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Коротко о проекте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- один бот в MAX для любой УК. Житель сообщает о проблеме за минуту, видит статус и сам принимает работу. Раз в месяц передаёт показания. УК получает один канал вместо звонков и выполняет требование ПП РФ № 40 о работе с жителями через MAX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363931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Жителю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с фото за минуту, статус и срок в сообщениях бота, приёмка работы с фото «было - стало»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9768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7200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639312"/>
            <a:ext cx="356616" cy="35661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57200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УК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Заявки, показания, объявления в домовые чаты, исполнители и аналитика в одном кабинете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4672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2104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3639312"/>
            <a:ext cx="356616" cy="35661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32104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Рынку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832104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Обезличенный бенчмарк УК и счётчик спроса на дома, где УК ещё не подключена</a:t>
            </a:r>
            <a:endParaRPr lang="en-US" sz="1400" dirty="0"/>
          </a:p>
        </p:txBody>
      </p:sp>
      <p:sp>
        <p:nvSpPr>
          <p:cNvPr id="21" name="says:60204:20000"/>
          <p:cNvSpPr/>
          <p:nvPr/>
        </p:nvSpPr>
        <p:spPr>
          <a:xfrm>
            <a:off x="8138160" y="1554480"/>
            <a:ext cx="2240280" cy="914400"/>
          </a:xfrm>
          <a:prstGeom prst="wedgeRoundRectCallout">
            <a:avLst>
              <a:gd name="adj1" fmla="val 60204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84464" y="1609344"/>
            <a:ext cx="1947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Свой человек в ЖКХ: принял, передал, проследил</a:t>
            </a:r>
            <a:endParaRPr lang="en-US" sz="1250" dirty="0"/>
          </a:p>
        </p:txBody>
      </p:sp>
      <p:pic>
        <p:nvPicPr>
          <p:cNvPr id="23" name="Image 4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28" y="169164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Потекло. А кому звонить?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676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Собственник квартиры в доме под управлением УК</a:t>
            </a:r>
            <a:pPr indent="0" marL="0">
              <a:buNone/>
            </a:pPr>
            <a:r>
              <a:rPr lang="en-US" sz="17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при бытовой проблеме (протечка, лифт, мусор) хочет, чтобы её устранили. Но он не знает, кто отвечает: УК, ресурсник или город. Ищет телефон, дозванивается и не видит ни статуса, ни сроков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63240"/>
            <a:ext cx="6583680" cy="566928"/>
          </a:xfrm>
          <a:prstGeom prst="roundRect">
            <a:avLst>
              <a:gd name="adj" fmla="val 50000"/>
            </a:avLst>
          </a:prstGeom>
          <a:solidFill>
            <a:srgbClr val="FE781A"/>
          </a:solidFill>
          <a:ln w="19050">
            <a:solidFill>
              <a:srgbClr val="0A1A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A3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Проблема решается долго, доверие к УК падает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977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4131259"/>
            <a:ext cx="332842" cy="3328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39959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знает, кому писать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4315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УК, РСО или муниципалитет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48640" y="484632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99993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71600" y="48646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Долго дозваниваться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371600" y="5184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Диспетчерская занята, ответ устный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548640" y="571500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5868619"/>
            <a:ext cx="332842" cy="33284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71600" y="57332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видит статуса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137160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Выполнено - это слова диспетчера</a:t>
            </a:r>
            <a:endParaRPr lang="en-US" sz="1350" dirty="0"/>
          </a:p>
        </p:txBody>
      </p:sp>
      <p:sp>
        <p:nvSpPr>
          <p:cNvPr id="19" name="Shape 13"/>
          <p:cNvSpPr/>
          <p:nvPr/>
        </p:nvSpPr>
        <p:spPr>
          <a:xfrm>
            <a:off x="7863840" y="1417320"/>
            <a:ext cx="3776472" cy="3063240"/>
          </a:xfrm>
          <a:prstGeom prst="roundRect">
            <a:avLst>
              <a:gd name="adj" fmla="val 5970"/>
            </a:avLst>
          </a:prstGeom>
          <a:solidFill>
            <a:srgbClr val="D5D9E6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13816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Чем подтверждаем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138160" y="2057400"/>
            <a:ext cx="3291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Эксперт трека, Минстрой Псковской обл.: жители не знают, зарегистрировано ли обращение и когда его рассмотрят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Там же: непонятно, кто отвечает и куда обращаться - УК, ТСЖ или муниципалитет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[Выводы CustDev: N интервью, ключевые цитаты]</a:t>
            </a:r>
            <a:endParaRPr lang="en-US" sz="1250" dirty="0"/>
          </a:p>
        </p:txBody>
      </p:sp>
      <p:sp>
        <p:nvSpPr>
          <p:cNvPr id="22" name="says:59091:20000"/>
          <p:cNvSpPr/>
          <p:nvPr/>
        </p:nvSpPr>
        <p:spPr>
          <a:xfrm>
            <a:off x="7863840" y="4892040"/>
            <a:ext cx="2514600" cy="914400"/>
          </a:xfrm>
          <a:prstGeom prst="wedgeRoundRectCallout">
            <a:avLst>
              <a:gd name="adj1" fmla="val 59091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10144" y="4946904"/>
            <a:ext cx="22219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Сегодня статус заявки - это то, что сказали по телефону</a:t>
            </a:r>
            <a:endParaRPr lang="en-US" sz="1250" dirty="0"/>
          </a:p>
        </p:txBody>
      </p:sp>
      <p:pic>
        <p:nvPicPr>
          <p:cNvPr id="24" name="Image 4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28" y="502920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Почему сейчас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01.09.2026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обязаны взаимодействовать с жителями через MAX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26.01.2026 № 40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4,2 млрд м²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общая площадь жилищного фонда России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Росстат, 2024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49 312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управляющих организаций в реестре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ЖКХ, 09.2026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492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Требование уже действует, а готового инструмента у большинства УК нет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закрывает его за УК и даёт жителю прозрачный канал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знаем и что предполагаем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84525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Знаем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 обращение УК отвечает не позднее 10 рабочих дней (ПП РФ № 416, п. 36)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Эксперт трека: жители не знают, принято ли обращение и когда ответят; у УК 50+ домов и чатов без модераторов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Госуслуги Дом недоступен арендатору (эксперт трека)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315968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84525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Предполагаем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 и срок сразу после подачи снижают повторные звонки в диспетчерскую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Ежемесячные показания удерживают жителя между редкими заявками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 подтверждает работу, если это одна кнопка в чате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подключится, чтобы выполнить ПП № 40 без своей разработки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8083296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39328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84525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Проверим после запуска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жителей дома, которые уже в MAX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 первой УК до подключения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кого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577840" cy="47548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5" y="1912925"/>
            <a:ext cx="380390" cy="38039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1783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Приоритетный сегмент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737360" y="2057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Собственник квартиры в МКД под управлением УК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06324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Первым сталкивается с проблемой в квартире и в доме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Платит по квитанции и хочет понимать, за что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 в месяц передаёт показания: это превращает редкую заявку в привычку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Голосует на собраниях и хочет знать, наберётся ли кворум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400800" y="1463040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583680" y="1664208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99" y="1817827"/>
            <a:ext cx="332842" cy="33284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406640" y="16184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Сотрудник УК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93852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 и админ: заявки, дома, показания, объявления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0" y="2679192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583680" y="288036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7299" y="3033979"/>
            <a:ext cx="332842" cy="33284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406640" y="2834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7406640" y="315468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Мастер: карточка заявки прямо в диалоге с ботом, без мини-приложения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400800" y="3895344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583680" y="409651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7299" y="4250131"/>
            <a:ext cx="332842" cy="33284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406640" y="40507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Председатель совета дома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7406640" y="4370832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Опросы, прогноз кворума, домовой чат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400800" y="5111496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583680" y="531266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7299" y="5466283"/>
            <a:ext cx="332842" cy="33284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406640" y="526694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Арендатор</a:t>
            </a:r>
            <a:endParaRPr lang="en-US" sz="1500" dirty="0"/>
          </a:p>
        </p:txBody>
      </p:sp>
      <p:sp>
        <p:nvSpPr>
          <p:cNvPr id="30" name="Text 22"/>
          <p:cNvSpPr txBox="1"/>
          <p:nvPr/>
        </p:nvSpPr>
        <p:spPr>
          <a:xfrm>
            <a:off x="7406640" y="558698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Входит по коду собственника, без начислений и голосов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Было и стало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749040"/>
                <a:gridCol w="459943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Задача жителя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Сейчас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 Жэкой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58D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Узнать, кто отвечает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Искать в квитанции и на доске у подъезда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Бот знает УК дома, дом можно найти по адресу, геопозиции или QR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Сообщить о проблеме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Дозвон в диспетчерскую, устно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Заявка с фото и категорией за минуту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Узнать статус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Перезванивать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Бот пишет при каждой смене статуса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Подтвердить работу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Диспетчер отмечает «выполнено»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Житель принимает работу по фото и может подать повторную заявку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Передать показания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Бумажка в ящике или сайт УК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Фото счётчика, распознанное значение, сравнение с домом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Понять квитанцию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Звонок диспетчеру, который не знает ответа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Разбор суммы: объём или тариф, построчно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Чем закрывают задачу сейчас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044952"/>
                <a:gridCol w="1609344"/>
                <a:gridCol w="1609344"/>
                <a:gridCol w="1609344"/>
                <a:gridCol w="1609344"/>
                <a:gridCol w="160934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Телефон диспетчерской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Домовой чат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Сайт или приложение УК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Госуслуги Дом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Жэка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58D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Видно, кто отвечает за дом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Статус и срок заявки видны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Работу подтверждает житель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Показания без визита и звонка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Один вход для любой УК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Доступно арендатору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Кабинет УК с исполнителями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Госуслуги Дом - канал собственника в ГИС ЖКХ. Жэка закрывает то, чего там нет: арендатор, приёмка работы жителем, кабинет УК с исполнителями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943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Арендатор и Госуслуги Дом: эксперт трека, вебинар хакатона. [Сверить оценки Госуслуги Дом и приложений УК с актуальными версиями]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Основной сценарий жителя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1540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11680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Открыл бота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 QR у лифта, из домового чата или по ссылке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642616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807208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035808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816" y="2215408"/>
            <a:ext cx="342351" cy="34235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270248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35808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Нашёл дом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3035808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Город, улица, дом или геопозиция. Согласие на ПД до выбора дома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901184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065776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294376" y="2057400"/>
            <a:ext cx="658368" cy="658368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2384" y="2215408"/>
            <a:ext cx="342351" cy="34235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28816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94376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Оставил заявку</a:t>
            </a:r>
            <a:endParaRPr lang="en-US" sz="1550" dirty="0"/>
          </a:p>
        </p:txBody>
      </p:sp>
      <p:sp>
        <p:nvSpPr>
          <p:cNvPr id="24" name="Text 18"/>
          <p:cNvSpPr txBox="1"/>
          <p:nvPr/>
        </p:nvSpPr>
        <p:spPr>
          <a:xfrm>
            <a:off x="5294376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Описание, категория, фото. В приложении категорию подсказывает модель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7159752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7324344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7552944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0952" y="2215408"/>
            <a:ext cx="342351" cy="34235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787384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52944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Видит статус</a:t>
            </a:r>
            <a:endParaRPr lang="en-US" sz="1550" dirty="0"/>
          </a:p>
        </p:txBody>
      </p:sp>
      <p:sp>
        <p:nvSpPr>
          <p:cNvPr id="31" name="Text 24"/>
          <p:cNvSpPr txBox="1"/>
          <p:nvPr/>
        </p:nvSpPr>
        <p:spPr>
          <a:xfrm>
            <a:off x="7552944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Номер, срок, сообщение при каждой смене статуса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9418320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9582912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9811512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9520" y="2215408"/>
            <a:ext cx="342351" cy="342351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45952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811512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Принял работу</a:t>
            </a:r>
            <a:endParaRPr lang="en-US" sz="1550" dirty="0"/>
          </a:p>
        </p:txBody>
      </p:sp>
      <p:sp>
        <p:nvSpPr>
          <p:cNvPr id="38" name="Text 30"/>
          <p:cNvSpPr txBox="1"/>
          <p:nvPr/>
        </p:nvSpPr>
        <p:spPr>
          <a:xfrm>
            <a:off x="9811512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Фото «было - стало», оценка или повторная заявка</a:t>
            </a:r>
            <a:endParaRPr lang="en-US" sz="1250" dirty="0"/>
          </a:p>
        </p:txBody>
      </p:sp>
      <p:sp>
        <p:nvSpPr>
          <p:cNvPr id="39" name="says:-54386:20000"/>
          <p:cNvSpPr/>
          <p:nvPr/>
        </p:nvSpPr>
        <p:spPr>
          <a:xfrm>
            <a:off x="1801368" y="4983480"/>
            <a:ext cx="5212080" cy="868680"/>
          </a:xfrm>
          <a:prstGeom prst="wedgeRoundRectCallout">
            <a:avLst>
              <a:gd name="adj1" fmla="val -54386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1947672" y="5038344"/>
            <a:ext cx="491947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№ 1542 «Протечка» принята в работу. Срок: до 18:40. Кнопка в сообщении откроет заявку</a:t>
            </a:r>
            <a:endParaRPr lang="en-US" sz="1300" dirty="0"/>
          </a:p>
        </p:txBody>
      </p:sp>
      <p:pic>
        <p:nvPicPr>
          <p:cNvPr id="41" name="Image 6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088636"/>
            <a:ext cx="1005840" cy="100584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406640" y="51206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ведёт короткие диалоги, статусы и уведомления, мини-приложение отвечает за формы, списки и историю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Две опоры продукта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470916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8308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947672"/>
            <a:ext cx="356616" cy="35661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Заявки: редко, но больно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Редкое, но самое болезненное событие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Полный цикл: подача, работа, исполнитель, приёмка жителем, оценка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Приводит жителя в бот, но удержать его одними заявками нельзя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822960" y="4206240"/>
            <a:ext cx="4846320" cy="1783080"/>
          </a:xfrm>
          <a:prstGeom prst="roundRect">
            <a:avLst>
              <a:gd name="adj" fmla="val 7179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69848" y="434340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№ 1542 «Протечка», срок до 18:40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09:12  подана с фото, принята через 28 минут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15:30  на приёмке, житель принял работу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Ход заявки: каждый шаг - сообщение в MAX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245352" y="1508760"/>
            <a:ext cx="5394960" cy="470916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19672" y="1783080"/>
            <a:ext cx="685800" cy="68580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1947672"/>
            <a:ext cx="356616" cy="3566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88352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Счётчики: каждый месяц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519672" y="269748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Фото, распознанное значение, подтверждение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Расход и сравнение со средним по дому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Напоминания в окно подачи и перед поверкой</a:t>
            </a:r>
            <a:endParaRPr lang="en-US" sz="1450" dirty="0"/>
          </a:p>
        </p:txBody>
      </p:sp>
      <p:sp>
        <p:nvSpPr>
          <p:cNvPr id="17" name="Shape 12"/>
          <p:cNvSpPr/>
          <p:nvPr/>
        </p:nvSpPr>
        <p:spPr>
          <a:xfrm>
            <a:off x="6519672" y="4206240"/>
            <a:ext cx="4846320" cy="1783080"/>
          </a:xfrm>
          <a:prstGeom prst="roundRect">
            <a:avLst>
              <a:gd name="adj" fmla="val 7179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766560" y="434340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+820 ₽ к августу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+640  ГВС: расход вырос на 4 м³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+180  содержание: новый тариф с 01.09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квитанции: почему выросла сумма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Чего нет в обычном боте заявок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918411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коллективных заявок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«На это уже пожаловались 7 соседей»: одна группа на стояк вместо дюжины дублей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918411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 и приёмка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Мастер жмёт «выехал - готово» и присылает фото, «выполнено» подтверждает житель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918411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суммы раскладывается на объём и тариф, спор уходит заявкой с расчётом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04672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291" y="4295851"/>
            <a:ext cx="332842" cy="33284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72768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кворума по площади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04672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«47 квартир - 38% площади»: председатель видит, прошло бы собрание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4315968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572000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5619" y="4295851"/>
            <a:ext cx="332842" cy="33284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340096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на подъезде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72000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 уже выбран, остаются согласие и номер квартиры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8083296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339328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2947" y="4295851"/>
            <a:ext cx="332842" cy="33284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107424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по звонку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39328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Звонок диспетчеру попадает в тот же прозрачный конвейер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Как это выглядит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7040880" y="731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Экраны мини-приложения на модельных данных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2105395" cy="4343400"/>
          </a:xfrm>
          <a:prstGeom prst="roundRect">
            <a:avLst>
              <a:gd name="adj" fmla="val 955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7" name="Image 1" descr="/Users/k1rles/papka/code/vkmax-mobilization/docs/preza/screens/01-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1922515" cy="4160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65760" y="5833872"/>
            <a:ext cx="24711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Главная: заявка на приёмке, окно показаний, опрос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544066" y="1371600"/>
            <a:ext cx="2105395" cy="4343400"/>
          </a:xfrm>
          <a:prstGeom prst="roundRect">
            <a:avLst>
              <a:gd name="adj" fmla="val 955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0" name="Image 2" descr="/Users/k1rles/papka/code/vkmax-mobilization/docs/preza/screens/02-new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5506" y="1463040"/>
            <a:ext cx="1922515" cy="4160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361186" y="5833872"/>
            <a:ext cx="24711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Заявка: модель подсказала категорию, соседи уже сообщили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6539491" y="1371600"/>
            <a:ext cx="2105395" cy="4343400"/>
          </a:xfrm>
          <a:prstGeom prst="roundRect">
            <a:avLst>
              <a:gd name="adj" fmla="val 955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3" name="Image 3" descr="/Users/k1rles/papka/code/vkmax-mobilization/docs/preza/screens/03-reque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0931" y="1463040"/>
            <a:ext cx="1922515" cy="4160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56611" y="5833872"/>
            <a:ext cx="24711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Статус, срок и ход заявки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9534917" y="1371600"/>
            <a:ext cx="2105395" cy="4343400"/>
          </a:xfrm>
          <a:prstGeom prst="roundRect">
            <a:avLst>
              <a:gd name="adj" fmla="val 955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6" name="Image 4" descr="/Users/k1rles/papka/code/vkmax-mobilization/docs/preza/screens/04-met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6357" y="1463040"/>
            <a:ext cx="1922515" cy="41605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9352037" y="5833872"/>
            <a:ext cx="24711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Показания: расход и сравнение с домом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Кабинет УК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48" y="1621048"/>
            <a:ext cx="342351" cy="34235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44475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181051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Сообщение о каждой новой заявке, группы коллективных заявок, назначение исполнителя, просроченные заявки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6517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2809768"/>
            <a:ext cx="342351" cy="3423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2633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Приём и доступ в квартиры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1417320" y="299923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Запись жителей на приём, сбор окон доступа: «ответили 9 из 14»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38404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3998488"/>
            <a:ext cx="342351" cy="342351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17320" y="382219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Дома и объявления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1417320" y="418795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Жители, подтверждение квартир, показания, объявления в домовые чаты, QR для подъездов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48640" y="50292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5187208"/>
            <a:ext cx="342351" cy="34235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17320" y="501091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Аналитика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1417320" y="537667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реакции, доля повторных, исполнители, каналы заявок, обезличенный бенчмарк с другими УК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6812280" y="1417320"/>
            <a:ext cx="2211028" cy="4572000"/>
          </a:xfrm>
          <a:prstGeom prst="roundRect">
            <a:avLst>
              <a:gd name="adj" fmla="val 9098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22" name="Image 5" descr="/Users/k1rles/papka/code/vkmax-mobilization/docs/preza/screens/05-admin-request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0" y="1508760"/>
            <a:ext cx="2028148" cy="438912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9343348" y="1417320"/>
            <a:ext cx="2211028" cy="4572000"/>
          </a:xfrm>
          <a:prstGeom prst="roundRect">
            <a:avLst>
              <a:gd name="adj" fmla="val 9098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24" name="Image 6" descr="/Users/k1rles/papka/code/vkmax-mobilization/docs/preza/screens/06-analytic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34788" y="1508760"/>
            <a:ext cx="2028148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Возможности MAX сверх минимума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83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194108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691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Домовые чаты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164592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 чате дома: привязка к дому, объявления УК, список закрепов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97180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77240" y="32461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404128"/>
            <a:ext cx="342351" cy="3423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154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Три уровня уведомлений</a:t>
            </a:r>
            <a:endParaRPr lang="en-US" sz="155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5021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 звуком, без звука или выключены, по категориям. Статусы своих заявок не отключаются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443484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77240" y="47091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4867168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6177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Живые сообщения</a:t>
            </a:r>
            <a:endParaRPr lang="en-US" sz="1550" dirty="0"/>
          </a:p>
        </p:txBody>
      </p:sp>
      <p:sp>
        <p:nvSpPr>
          <p:cNvPr id="19" name="Text 13"/>
          <p:cNvSpPr txBox="1"/>
          <p:nvPr/>
        </p:nvSpPr>
        <p:spPr>
          <a:xfrm>
            <a:off x="1645920" y="496519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Карточка исполнителя и приёмка редактируются на месте, а не множатся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217920" y="150876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46520" y="1783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528" y="1941088"/>
            <a:ext cx="342351" cy="34235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0" y="1691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Диплинки и QR</a:t>
            </a:r>
            <a:endParaRPr lang="en-US" sz="1550" dirty="0"/>
          </a:p>
        </p:txBody>
      </p:sp>
      <p:sp>
        <p:nvSpPr>
          <p:cNvPr id="24" name="Text 17"/>
          <p:cNvSpPr txBox="1"/>
          <p:nvPr/>
        </p:nvSpPr>
        <p:spPr>
          <a:xfrm>
            <a:off x="731520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Приглашения сотрудников и арендаторов, подъездный QR, демо-доступ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6217920" y="297180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6446520" y="32461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528" y="3404128"/>
            <a:ext cx="342351" cy="342351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315200" y="3154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Связка бот + мини-приложение</a:t>
            </a:r>
            <a:endParaRPr lang="en-US" sz="1550" dirty="0"/>
          </a:p>
        </p:txBody>
      </p:sp>
      <p:sp>
        <p:nvSpPr>
          <p:cNvPr id="29" name="Text 21"/>
          <p:cNvSpPr txBox="1"/>
          <p:nvPr/>
        </p:nvSpPr>
        <p:spPr>
          <a:xfrm>
            <a:off x="7315200" y="35021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Уведомление открывает нужную заявку в приложении, сотруднику - в кабинете УК</a:t>
            </a:r>
            <a:endParaRPr lang="en-US" sz="1250" dirty="0"/>
          </a:p>
        </p:txBody>
      </p:sp>
      <p:sp>
        <p:nvSpPr>
          <p:cNvPr id="30" name="says:56410:20000"/>
          <p:cNvSpPr/>
          <p:nvPr/>
        </p:nvSpPr>
        <p:spPr>
          <a:xfrm>
            <a:off x="6812280" y="4983480"/>
            <a:ext cx="3566160" cy="868680"/>
          </a:xfrm>
          <a:prstGeom prst="wedgeRoundRectCallout">
            <a:avLst>
              <a:gd name="adj1" fmla="val 56410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958584" y="5038344"/>
            <a:ext cx="32735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 настоящих мастеров уже стоит MAX</a:t>
            </a:r>
            <a:endParaRPr lang="en-US" sz="1300" dirty="0"/>
          </a:p>
        </p:txBody>
      </p:sp>
      <p:pic>
        <p:nvPicPr>
          <p:cNvPr id="32" name="Image 6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28" y="5088636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Ожидаемый эффект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Если житель сообщает о проблеме в MAX и сам принимает работу, заявка регистрируется быстрее, а статус «выполнено» становится фактом, потому что его подтверждает вторая сторона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48640" y="2377440"/>
            <a:ext cx="3547872" cy="192024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25603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&lt; 1 мин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 проблемы до заявки с номером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гипотеза, замерим после запуска: сейчас поиск телефона и дозвон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2377440"/>
            <a:ext cx="3547872" cy="192024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90288" y="25603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72 ч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4590288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самый длинный срок категории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90288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норматив ПП РФ № 416, п. 36: 10 рабочих дней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83296" y="2377440"/>
            <a:ext cx="3547872" cy="192024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357616" y="25603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 группа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8357616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вместо дюжины дублей со стояка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57616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по дому, категории и окну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Как проверим после запуска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498348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 УК рядом со сроком категории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работ, принятых жителем, против закрытых по таймауту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повторных заявок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217920" y="498348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заявок цифрой против записанных со звонка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показаний без визита и звонка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Охват: доля квартир дома в продукте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Границы MVP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Must: сделано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194560"/>
            <a:ext cx="3383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Согласие на ПД и онбординг в боте и приложении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 полным циклом с ролью УК и уведомлениями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Счётчики: окно, проверка, поверка, расход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Карточка дома, опросы, домовые чаты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Роли в УК, приглашения, демо-доступ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Аналитика УК, Docker, README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4315968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1E7C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Should: сделано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407408" y="2194560"/>
            <a:ext cx="3383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OCR показаний и подсказка категории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Подтверждение квартиры, квитанции, демо-оплата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заявок, QR, исполнитель и приёмка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Приём и сбор доступа, разбор квитанции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кворума, заявка по звонку, бенчмарк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083296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17326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Won't: сознательно нет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174736" y="2194560"/>
            <a:ext cx="3383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Реальная оплата и эквайринг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Юридически значимое ОСС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Интеграция с ГИС ЖКХ и биллингом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Кабинет оператора платформы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Своя копия сервиса у каждой УК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Архитектура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2788920"/>
            <a:ext cx="2103120" cy="1005840"/>
          </a:xfrm>
          <a:prstGeom prst="roundRect">
            <a:avLst>
              <a:gd name="adj" fmla="val 10909"/>
            </a:avLst>
          </a:prstGeom>
          <a:solidFill>
            <a:srgbClr val="0958D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27889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бот, мини-приложение, домовые чаты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200400" y="2788920"/>
            <a:ext cx="17373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37560" y="278892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nginx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 TLS хоста, разводит по путям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0" y="150876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23560" y="15087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web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React + TypeScript, max-ui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0" y="283464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623560" y="2834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FastAPI, вебхук бота maxo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0" y="41605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23560" y="41605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worker, scheduler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taskiq: рассылки, напоминания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503920" y="2148840"/>
            <a:ext cx="313639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41080" y="214884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PostgreSQL 16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дома, заявки, показания, события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503920" y="3474720"/>
            <a:ext cx="31363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41080" y="347472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Redis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очередь задач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503920" y="4617720"/>
            <a:ext cx="31363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41080" y="4617720"/>
            <a:ext cx="2862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Yandex Vision OCR, AI Studio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показания по фото, категория заявки; необязательны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2651760" y="3291840"/>
            <a:ext cx="548640" cy="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headEnd type="triangle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4937760" y="1965960"/>
            <a:ext cx="548640" cy="10972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937760" y="3291840"/>
            <a:ext cx="548640" cy="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 flipV="1">
            <a:off x="7772400" y="2606040"/>
            <a:ext cx="731520" cy="54864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3429000"/>
            <a:ext cx="731520" cy="4114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629400" y="3749040"/>
            <a:ext cx="0" cy="4114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 flipV="1">
            <a:off x="7772400" y="3977640"/>
            <a:ext cx="731520" cy="6400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7772400" y="3566160"/>
            <a:ext cx="731520" cy="1417320"/>
          </a:xfrm>
          <a:prstGeom prst="line">
            <a:avLst/>
          </a:prstGeom>
          <a:noFill/>
          <a:ln w="15875">
            <a:solidFill>
              <a:srgbClr val="173267"/>
            </a:solidFill>
            <a:prstDash val="dash"/>
            <a:tailEnd type="triangle"/>
          </a:ln>
        </p:spPr>
      </p:sp>
      <p:sp>
        <p:nvSpPr>
          <p:cNvPr id="29" name="Shape 26"/>
          <p:cNvSpPr/>
          <p:nvPr/>
        </p:nvSpPr>
        <p:spPr>
          <a:xfrm flipH="1" flipV="1">
            <a:off x="2651760" y="3611880"/>
            <a:ext cx="2834640" cy="1005840"/>
          </a:xfrm>
          <a:prstGeom prst="line">
            <a:avLst/>
          </a:prstGeom>
          <a:noFill/>
          <a:ln w="15875">
            <a:solidFill>
              <a:srgbClr val="173267"/>
            </a:solidFill>
            <a:prstDash val="dash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548640" y="5806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бот на все УК: мультитенант на общей схеме, изоляция фильтром по организации. Docker Compose поднимает всё одной командой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Данные и интеграции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165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реальных домов в справочнике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256032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города: Москва, Санкт-Петербург, Казань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реальные УК из карточек домов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5669280" cy="301752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383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Открытые данные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84048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ЖКХ: дома (год, этажность, площадь, помещения) и реестр УО, выгрузка на сентябрь 2026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OpenStreetMap: координаты через Nominatim и Overpass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ЖКХ: справочники НСИ для видов счётчиков и услуг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92240" y="1417320"/>
            <a:ext cx="5148072" cy="480060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665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Модельные данные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205740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Начисления, квитанции, лицевые счета, показания: синтетика, помечена в интерфейсе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Пять демо-УК с заведомо неверными ИНН и историей за 6 месяцев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Лицевой счёт у всех квартир - её номер с нулями до 10 цифр, например 0000000012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Оплата демонстрационная, деньги не списываются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766560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продакшена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0" y="45720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Выгрузка биллинга УК в таблицу начислений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 API для домов и лицевых счетов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ЕСИА или письмо на домен УК для проверки организации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Правовой контур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680" y="1922800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874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ПП РФ № 40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- канал, через который УК работает с жителями в MAX: обращения и запись на приём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217920" y="150876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73952" y="176479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960" y="1922800"/>
            <a:ext cx="342351" cy="3423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15200" y="1874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ПП РФ № 416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6473952" y="2560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п. 35: ответ тем же каналом. п. 36: сроки всех категорий короче норматива в 10 рабочих дней. п. 38: заявки хранятся 3 года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388620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04672" y="414223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80" y="4300240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152-ФЗ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" y="4937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Согласие до выбора дома, версия и дата согласия в базе. Данные жителя видит только УК его дома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6217920" y="388620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73952" y="414223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1960" y="4300240"/>
            <a:ext cx="342351" cy="34235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Опросы - не ОСС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6473952" y="4937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 помечен как предварительный: это репетиция собрания с прогнозом кворума, а не юридическое решение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сохраняется, что адаптируется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394960" cy="39319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Ядро: переносится без изменений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Проблема жителя и сценарий заявки с приёмкой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бот на все УК, модель данных дом - квартира - житель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Счётчики, опросы, домовые чаты, роли в УК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Интерфейс бота и мини-приложения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245352" y="1463040"/>
            <a:ext cx="5394960" cy="3931920"/>
          </a:xfrm>
          <a:prstGeom prst="roundRect">
            <a:avLst>
              <a:gd name="adj" fmla="val 4651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19672" y="16916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Переменная часть: меняется под регион и УК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19672" y="2423160"/>
            <a:ext cx="4892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Справочник домов: выгрузка Реформы ЖКХ по региону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Тарифы, окна подачи показаний, часовой пояс дома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Категории и сроки заявок под регламент УК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Интеграции: биллинг УК, ГИС ЖКХ, региональные системы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Бренд: white-label бот на токене УК на том же ядре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6000"/>
            </a:avLst>
          </a:prstGeom>
          <a:solidFill>
            <a:srgbClr val="D5D9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56235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Новый регион без изменений ядра: </a:t>
            </a:r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скрипт загружает выгрузку КР 1.1 и реестр УО Реформы ЖКХ, под регион настраиваются выгрузка и разбор адресов. УК подключается сама по ИНН и коду регистрации, сотрудников зовёт ссылками, своих ИТ-специалистов не нужно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Путь тиражирования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3749040"/>
            <a:ext cx="2606040" cy="24688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3931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434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Пилот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006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 УК, 5-10 домов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166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в подъездах, пост в домовом чате, сотрудники по приглашениям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77184" y="3182112"/>
            <a:ext cx="2606040" cy="3035808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605784" y="33649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3605784" y="386791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Город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605784" y="423367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все УК города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605784" y="4599432"/>
            <a:ext cx="2194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Регистрация УК по ИНН, дома из реестра. Спрос жителей на неподключённые дома как аргумент для УК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205728" y="2615184"/>
            <a:ext cx="2606040" cy="360273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34328" y="27980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6434328" y="3300984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Регион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434328" y="366674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Москва, СПб, Татарстан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34328" y="4032504"/>
            <a:ext cx="21945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Скрипт выгрузки уже работает с КР 1.1 этих регионов, в демо 165 домов. Интеграция с биллингом крупных УК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9034272" y="2048256"/>
            <a:ext cx="2606040" cy="416966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262872" y="223113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9262872" y="273405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Сети и ТСЖ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262872" y="309981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white-label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9262872" y="3465576"/>
            <a:ext cx="219456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Свой бот на токене УК на общем ядре. ТСЖ и ЖСК с той же механикой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14630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Рынок: </a:t>
            </a:r>
            <a:pPr indent="0" marL="0">
              <a:buNone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TAM - 49 312 УО в реестре РФ. SAM - 59 853 МКД в Москве, Санкт-Петербурге и Казани. SOM - [оценка на 1-2 года]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План пилота и внедрения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48" y="1621048"/>
            <a:ext cx="342351" cy="34235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4630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Где</a:t>
            </a:r>
            <a:endParaRPr lang="en-US" sz="155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18288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Одна УК и 5-10 её домов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6517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2809768"/>
            <a:ext cx="342351" cy="3423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26517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встраивается</a:t>
            </a:r>
            <a:endParaRPr lang="en-US" sz="1550" dirty="0"/>
          </a:p>
        </p:txBody>
      </p:sp>
      <p:sp>
        <p:nvSpPr>
          <p:cNvPr id="12" name="Text 7"/>
          <p:cNvSpPr txBox="1"/>
          <p:nvPr/>
        </p:nvSpPr>
        <p:spPr>
          <a:xfrm>
            <a:off x="1417320" y="30175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 работает в кабинете вместо тетради. Звонки заводит заявкой, мастер получает карточку в MAX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38404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3998488"/>
            <a:ext cx="342351" cy="342351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17320" y="38404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Кто нужен</a:t>
            </a:r>
            <a:endParaRPr lang="en-US" sz="1550" dirty="0"/>
          </a:p>
        </p:txBody>
      </p:sp>
      <p:sp>
        <p:nvSpPr>
          <p:cNvPr id="16" name="Text 10"/>
          <p:cNvSpPr txBox="1"/>
          <p:nvPr/>
        </p:nvSpPr>
        <p:spPr>
          <a:xfrm>
            <a:off x="1417320" y="42062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Владелец процесса в УК, диспетчер, 2-3 мастера, председатель совета дома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48640" y="50292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5187208"/>
            <a:ext cx="342351" cy="34235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17320" y="50292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придут жители</a:t>
            </a:r>
            <a:endParaRPr lang="en-US" sz="1550" dirty="0"/>
          </a:p>
        </p:txBody>
      </p:sp>
      <p:sp>
        <p:nvSpPr>
          <p:cNvPr id="20" name="Text 13"/>
          <p:cNvSpPr txBox="1"/>
          <p:nvPr/>
        </p:nvSpPr>
        <p:spPr>
          <a:xfrm>
            <a:off x="1417320" y="5394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у лифта, объявление в домовом чате, строка в квитанции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6583680" y="1463040"/>
            <a:ext cx="5056632" cy="47548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685800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замерим за 2 месяца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6858000" y="224028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Охват: доля подключенных квартир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заявок цифрой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 УК в пределах норматива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работ, принятых жителем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показаний через бота</a:t>
            </a:r>
            <a:endParaRPr lang="en-US" sz="1450" dirty="0"/>
          </a:p>
        </p:txBody>
      </p:sp>
      <p:sp>
        <p:nvSpPr>
          <p:cNvPr id="24" name="Text 17"/>
          <p:cNvSpPr txBox="1"/>
          <p:nvPr/>
        </p:nvSpPr>
        <p:spPr>
          <a:xfrm>
            <a:off x="6858000" y="5074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Следующий шаг: все дома первой УК, затем соседние УК города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Ограничения, риски и допущения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91640"/>
            <a:ext cx="640080" cy="64008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84525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 MVP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Начисления и лицевые счета модельные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Организация регистрируется без проверки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Нет интеграции с ГИС ЖКХ и биллингом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 не заменяет ОСС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84525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 MAX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30 запросов в секунду на бота: рассылка на 1 000 жителей около 35 секунд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не пишет первым, пока житель его не открыл: звонок заводит диспетчер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помнит около 1 000 чатов: привязки чатов храним у себя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84525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Риски и ответы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не хочет прозрачности: бенчмарк и спрос жителей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Пересечение с Госуслуги Дом: делаем то, чего там нет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Загрузка домов: публичный Nominatim - 1 запрос в секунду, Москва грузится около 18 часов. На масштабе свой Nominatim или DaData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Ошибки OCR: житель подтверждает значение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Персональные данные: согласие, доступ только своей УК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Источники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11064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26.01.2026 № 40; Минстрой России, 2026: взаимодействие УК с жителями через MAX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15.05.2013 № 416 в ред. от 20.06.2026: правила управления МКД, пп. 34-38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Приказ Минстроя об информационном взаимодействии через ГИС ЖКХ и MAX (publication.pravo.gov.ru)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Росстат: жилищный фонд РФ, 2024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 (reformagkh.ru): отчёт КР 1.1 и реестр УО, выгрузка 01.09.2026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 (dom.gosuslugi.ru): справочники НСИ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© участники OpenStreetMap, ODbL: координаты домов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 MAX для разработчиков: dev.max.ru/docs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Вебинары хакатона MAX, эксперт трека «Умный город» (Минстрой Псковской области): боли жителей и УК, Госуслуги Дом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Где использовался ИИ: ИИ-ассистент был вспомогательным инструментом и писал код по планам и правилам команды; продуктовые решения, архитектура и проверка - за командой. В продукте ИИ подсказывает категорию заявки и распознаёт показания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26</a:t>
            </a:r>
            <a:endParaRPr lang="en-US" sz="1000" dirty="0"/>
          </a:p>
        </p:txBody>
      </p:sp>
      <p:pic>
        <p:nvPicPr>
          <p:cNvPr id="3" name="Image 0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4206240" cy="4206240"/>
          </a:xfrm>
          <a:prstGeom prst="rect">
            <a:avLst/>
          </a:prstGeom>
        </p:spPr>
      </p:pic>
      <p:pic>
        <p:nvPicPr>
          <p:cNvPr id="4" name="Image 1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1005840" cy="1005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828800" y="658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Жэка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Коммуналкин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4688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Спасибо!</a:t>
            </a:r>
            <a:endParaRPr lang="en-US" sz="48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65760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Потекло, погасло, сломалось?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Пишите Жэке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49377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max.ru/t260_hakaton_max_bot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github.com/K1rL3s/vkmax-mobilization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Команда «Мобилизация»</a:t>
            </a:r>
            <a:endParaRPr lang="en-US" sz="1400" dirty="0"/>
          </a:p>
        </p:txBody>
      </p:sp>
      <p:pic>
        <p:nvPicPr>
          <p:cNvPr id="10" name="Image 2" descr="preencoded.png">
            <a:hlinkClick r:id="rId5" tooltip="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937760"/>
            <a:ext cx="2743200" cy="256032"/>
          </a:xfrm>
          <a:prstGeom prst="rect">
            <a:avLst/>
          </a:prstGeom>
        </p:spPr>
      </p:pic>
      <p:pic>
        <p:nvPicPr>
          <p:cNvPr id="11" name="Image 3" descr="preencoded.png">
            <a:hlinkClick r:id="rId7" tooltip="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193792"/>
            <a:ext cx="3291840" cy="256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Команда «Мобилизация»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Жэка Коммуналкин</dc:title>
  <dc:subject>PptxGenJS Presentation</dc:subject>
  <dc:creator>PptxGenJS</dc:creator>
  <cp:lastModifiedBy>PptxGenJS</cp:lastModifiedBy>
  <cp:revision>1</cp:revision>
  <dcterms:created xsi:type="dcterms:W3CDTF">2026-09-29T21:48:27Z</dcterms:created>
  <dcterms:modified xsi:type="dcterms:W3CDTF">2026-09-29T21:48:27Z</dcterms:modified>
</cp:coreProperties>
</file>