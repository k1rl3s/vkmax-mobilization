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не оценивается, но по нему жюри проверяет решение. Перед сдачей вписать commit hash и значения ключей для проверки. Все ссылки открыть в инкогнито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Название, слоган и состав команды с ролями: критерий «Командное владение решением» просит роли и зоны ответственности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Формула проблемы из материалов трека: пользователь, контекст, результат, барьер, последствие. Факты отделены от гипотез. CustDev вставить обязательно: критерий «Пользовательская ценность» просит подтверждение данными или интервью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Сюда скриншоты из реального продукта в рамке телефона: брендбук и критерии просят реальный продукт, а не макеты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Кандидат на платформенный бонус +0,15: возможность должна работать от начала до конца и быть описана в материалах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эффекта - гипотезы до пилота, так и проговаривать. Все метрики уже собираются в событиях и видны на дашборде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Сообщения уходят после коммита транзакции; вебхук отвечает за 30 секунд, тяжёлое уходит в taskiq. initData проверяется HMAC на токене бота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Масштабирование весит больше всех продуктовых критериев (35%). Числа МКД: выгрузка КР 1.1 Реформы ЖКХ от 01.09.2026: Москва 30 292, СПб 23 674, Казань 5 887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max.ru/t260_hakaton_max_bot" TargetMode="External"/><Relationship Id="rId3" Type="http://schemas.openxmlformats.org/officeDocument/2006/relationships/hyperlink" Target="https://github.com/K1rL3s/vkmax-mobilization" TargetMode="External"/><Relationship Id="rId4" Type="http://schemas.openxmlformats.org/officeDocument/2006/relationships/hyperlink" Target="https://vkmax.k1rles.ru/api" TargetMode="External"/><Relationship Id="rId5" Type="http://schemas.openxmlformats.org/officeDocument/2006/relationships/hyperlink" Target="https://vkmax.k1rles.ru/api/docs" TargetMode="External"/><Relationship Id="rId7" Type="http://schemas.openxmlformats.org/officeDocument/2006/relationships/hyperlink" Target="https://max.ru/t260_hakaton_max_bot?start=demo_resident_1" TargetMode="External"/><Relationship Id="rId9" Type="http://schemas.openxmlformats.org/officeDocument/2006/relationships/hyperlink" Target="https://max.ru/t260_hakaton_max_bot?start=demo_staff_1" TargetMode="External"/><Relationship Id="rId11" Type="http://schemas.openxmlformats.org/officeDocument/2006/relationships/hyperlink" Target="https://max.ru/t260_hakaton_max_bot?start=demo_admin_1" TargetMode="External"/><Relationship Id="rId1" Type="http://schemas.openxmlformats.org/officeDocument/2006/relationships/image" Target="../media/image-1-1.png"/><Relationship Id="rId6" Type="http://schemas.openxmlformats.org/officeDocument/2006/relationships/image" Target="../media/image-1-2.png"/><Relationship Id="rId8" Type="http://schemas.openxmlformats.org/officeDocument/2006/relationships/image" Target="../media/image-1-3.png"/><Relationship Id="rId10" Type="http://schemas.openxmlformats.org/officeDocument/2006/relationships/image" Target="../media/image-1-4.pn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image" Target="../media/image-19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image" Target="../media/image-2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5" Type="http://schemas.openxmlformats.org/officeDocument/2006/relationships/hyperlink" Target="https://max.ru/t260_hakaton_max_bot" TargetMode="External"/><Relationship Id="rId7" Type="http://schemas.openxmlformats.org/officeDocument/2006/relationships/hyperlink" Target="https://github.com/K1rL3s/vkmax-mobilization" TargetMode="External"/><Relationship Id="rId1" Type="http://schemas.openxmlformats.org/officeDocument/2006/relationships/image" Target="../media/Slide-25-image-1.png"/><Relationship Id="rId2" Type="http://schemas.openxmlformats.org/officeDocument/2006/relationships/image" Target="../media/image-25-2.png"/><Relationship Id="rId3" Type="http://schemas.openxmlformats.org/officeDocument/2006/relationships/image" Target="../media/image-25-2.png"/><Relationship Id="rId4" Type="http://schemas.openxmlformats.org/officeDocument/2006/relationships/image" Target="../media/image-25-4.png"/><Relationship Id="rId6" Type="http://schemas.openxmlformats.org/officeDocument/2006/relationships/image" Target="../media/image-25-5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технической проверки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234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Служебный слайд: ссылки, доступы и порядок проверки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1828800"/>
            <a:ext cx="5486400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Ссылки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14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MAX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2423160" y="2514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max.ru/t260_hakaton_max_bot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2971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Репозиторий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23160" y="2971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github.com/K1rL3s/vkmax-mobilization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429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Commit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2423160" y="3429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[hash сдаваемой версии]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38862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2423160" y="38862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22960" y="43434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2423160" y="4343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vkmax.k1rles.ru/api/docs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822960" y="4800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Контракт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2423160" y="4800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openapi.yaml, DATA-API.yaml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22960" y="52578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Логины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2423160" y="52578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нужны, вход по аккаунту MAX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" y="57150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Окружение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2423160" y="57150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.env.example, ключи Yandex: [значения]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6309360" y="1828800"/>
            <a:ext cx="533095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658368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Демо-доступ</a:t>
            </a:r>
            <a:endParaRPr lang="en-US" sz="1600" dirty="0"/>
          </a:p>
        </p:txBody>
      </p:sp>
      <p:sp>
        <p:nvSpPr>
          <p:cNvPr id="26" name="Text 23"/>
          <p:cNvSpPr txBox="1"/>
          <p:nvPr/>
        </p:nvSpPr>
        <p:spPr>
          <a:xfrm>
            <a:off x="6583680" y="246888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Нажмите на роль: ссылка откроет бота в MAX, и он выдаст эту роль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6583680" y="3154680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demo_resident_1</a:t>
            </a:r>
            <a:endParaRPr lang="en-US" sz="1200" dirty="0"/>
          </a:p>
        </p:txBody>
      </p:sp>
      <p:pic>
        <p:nvPicPr>
          <p:cNvPr id="28" name="Image 1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0" y="3154680"/>
            <a:ext cx="1920240" cy="384048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8641080" y="3154680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своя квартира, история за 6 месяцев</a:t>
            </a:r>
            <a:endParaRPr lang="en-US" sz="1250" dirty="0"/>
          </a:p>
        </p:txBody>
      </p:sp>
      <p:sp>
        <p:nvSpPr>
          <p:cNvPr id="30" name="Text 26"/>
          <p:cNvSpPr txBox="1"/>
          <p:nvPr/>
        </p:nvSpPr>
        <p:spPr>
          <a:xfrm>
            <a:off x="6583680" y="3721608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demo_staff_1</a:t>
            </a:r>
            <a:endParaRPr lang="en-US" sz="1200" dirty="0"/>
          </a:p>
        </p:txBody>
      </p:sp>
      <p:pic>
        <p:nvPicPr>
          <p:cNvPr id="31" name="Image 2" descr="preencoded.png">
            <a:hlinkClick r:id="rId9" tooltip="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3680" y="3721608"/>
            <a:ext cx="1920240" cy="384048"/>
          </a:xfrm>
          <a:prstGeom prst="rect">
            <a:avLst/>
          </a:prstGeom>
        </p:spPr>
      </p:pic>
      <p:sp>
        <p:nvSpPr>
          <p:cNvPr id="32" name="Text 27"/>
          <p:cNvSpPr txBox="1"/>
          <p:nvPr/>
        </p:nvSpPr>
        <p:spPr>
          <a:xfrm>
            <a:off x="8641080" y="3721608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УК: заявки, показания</a:t>
            </a:r>
            <a:endParaRPr lang="en-US" sz="1250" dirty="0"/>
          </a:p>
        </p:txBody>
      </p:sp>
      <p:sp>
        <p:nvSpPr>
          <p:cNvPr id="33" name="Text 28"/>
          <p:cNvSpPr txBox="1"/>
          <p:nvPr/>
        </p:nvSpPr>
        <p:spPr>
          <a:xfrm>
            <a:off x="6583680" y="4288536"/>
            <a:ext cx="1920240" cy="384048"/>
          </a:xfrm>
          <a:prstGeom prst="roundRect">
            <a:avLst>
              <a:gd name="adj" fmla="val 50000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demo_admin_1</a:t>
            </a:r>
            <a:endParaRPr lang="en-US" sz="1200" dirty="0"/>
          </a:p>
        </p:txBody>
      </p:sp>
      <p:pic>
        <p:nvPicPr>
          <p:cNvPr id="34" name="Image 3" descr="preencoded.png">
            <a:hlinkClick r:id="rId11" tooltip="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83680" y="4288536"/>
            <a:ext cx="1920240" cy="384048"/>
          </a:xfrm>
          <a:prstGeom prst="rect">
            <a:avLst/>
          </a:prstGeom>
        </p:spPr>
      </p:pic>
      <p:sp>
        <p:nvSpPr>
          <p:cNvPr id="35" name="Text 29"/>
          <p:cNvSpPr txBox="1"/>
          <p:nvPr/>
        </p:nvSpPr>
        <p:spPr>
          <a:xfrm>
            <a:off x="8641080" y="4288536"/>
            <a:ext cx="2834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админ УК: дома, команда, аналитика</a:t>
            </a:r>
            <a:endParaRPr lang="en-US" sz="1250" dirty="0"/>
          </a:p>
        </p:txBody>
      </p:sp>
      <p:sp>
        <p:nvSpPr>
          <p:cNvPr id="36" name="Text 30"/>
          <p:cNvSpPr txBox="1"/>
          <p:nvPr/>
        </p:nvSpPr>
        <p:spPr>
          <a:xfrm>
            <a:off x="6583680" y="49377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Порядок проверки</a:t>
            </a:r>
            <a:endParaRPr lang="en-US" sz="1300" dirty="0"/>
          </a:p>
        </p:txBody>
      </p:sp>
      <p:sp>
        <p:nvSpPr>
          <p:cNvPr id="37" name="Text 31"/>
          <p:cNvSpPr txBox="1"/>
          <p:nvPr/>
        </p:nvSpPr>
        <p:spPr>
          <a:xfrm>
            <a:off x="6583680" y="5285232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Житель: заявка с фото, показания по фото, опрос. Сотрудник: принять заявку, сменить статус. Житель: уведомление, приёмка, оценка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zheka-fa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695" y="0"/>
            <a:ext cx="6858000" cy="6858000"/>
          </a:xfrm>
          <a:prstGeom prst="rect">
            <a:avLst/>
          </a:prstGeom>
        </p:spPr>
      </p:pic>
      <p:pic>
        <p:nvPicPr>
          <p:cNvPr id="3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5" name="Text 1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Потекло, погасло, сломалось? Пишите Жэке</a:t>
            </a:r>
            <a:endParaRPr lang="en-US" sz="3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365760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и мини-приложение в MAX для жителей многоквартирных домов и их управляющих компаний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754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 · Хакатон MAX, трек «Умный город», 2026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Кирилл Лесовой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капитан, бэкенд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246120" y="5166360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Карпенко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фронтенд</a:t>
            </a:r>
            <a:endParaRPr lang="en-US" sz="15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Даниил Неслуховский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3246120" y="5824728"/>
            <a:ext cx="2514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Артаган Мальсагов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бэкенд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Коротко о проекте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589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один бот в MAX для любой УК. Житель сообщает о проблеме за минуту, видит статус и сам принимает работу. Раз в месяц передаёт показания. УК получает один канал вместо звонков и выполняет требование ПП РФ № 40 о работе с жителями через MAX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54864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2296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3639312"/>
            <a:ext cx="356616" cy="35661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Жителю</a:t>
            </a:r>
            <a:endParaRPr lang="en-US" sz="17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с фото за минуту, статус и срок в сообщениях бота, приёмка работы с фото «было - стало»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29768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57200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639312"/>
            <a:ext cx="356616" cy="3566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57200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УК</a:t>
            </a:r>
            <a:endParaRPr lang="en-US" sz="1700" dirty="0"/>
          </a:p>
        </p:txBody>
      </p:sp>
      <p:sp>
        <p:nvSpPr>
          <p:cNvPr id="15" name="Text 10"/>
          <p:cNvSpPr txBox="1"/>
          <p:nvPr/>
        </p:nvSpPr>
        <p:spPr>
          <a:xfrm>
            <a:off x="457200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Заявки, показания, объявления в домовые чаты, исполнители и аналитика в одном кабинете</a:t>
            </a:r>
            <a:endParaRPr lang="en-US" sz="1400" dirty="0"/>
          </a:p>
        </p:txBody>
      </p:sp>
      <p:sp>
        <p:nvSpPr>
          <p:cNvPr id="16" name="Shape 11"/>
          <p:cNvSpPr/>
          <p:nvPr/>
        </p:nvSpPr>
        <p:spPr>
          <a:xfrm>
            <a:off x="8046720" y="3246120"/>
            <a:ext cx="34747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7" name="Shape 12"/>
          <p:cNvSpPr/>
          <p:nvPr/>
        </p:nvSpPr>
        <p:spPr>
          <a:xfrm>
            <a:off x="8321040" y="347472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85632" y="3639312"/>
            <a:ext cx="356616" cy="356616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8321040" y="42976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Рынку</a:t>
            </a:r>
            <a:endParaRPr lang="en-US" sz="1700" dirty="0"/>
          </a:p>
        </p:txBody>
      </p:sp>
      <p:sp>
        <p:nvSpPr>
          <p:cNvPr id="20" name="Text 14"/>
          <p:cNvSpPr txBox="1"/>
          <p:nvPr/>
        </p:nvSpPr>
        <p:spPr>
          <a:xfrm>
            <a:off x="8321040" y="475488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Обезличенный бенчмарк УК и счётчик спроса на дома, где УК ещё не подключена</a:t>
            </a:r>
            <a:endParaRPr lang="en-US" sz="1400" dirty="0"/>
          </a:p>
        </p:txBody>
      </p:sp>
      <p:sp>
        <p:nvSpPr>
          <p:cNvPr id="21" name="says:60204:20000"/>
          <p:cNvSpPr/>
          <p:nvPr/>
        </p:nvSpPr>
        <p:spPr>
          <a:xfrm>
            <a:off x="8138160" y="1554480"/>
            <a:ext cx="2240280" cy="914400"/>
          </a:xfrm>
          <a:prstGeom prst="wedgeRoundRectCallout">
            <a:avLst>
              <a:gd name="adj1" fmla="val 60204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8284464" y="1609344"/>
            <a:ext cx="194767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человек в ЖКХ: принял, передал, проследил</a:t>
            </a:r>
            <a:endParaRPr lang="en-US" sz="1250" dirty="0"/>
          </a:p>
        </p:txBody>
      </p:sp>
      <p:pic>
        <p:nvPicPr>
          <p:cNvPr id="23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169164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Потекло. А кому звонить?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6766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Собственник квартиры в доме под управлением УК</a:t>
            </a:r>
            <a:pPr indent="0" marL="0">
              <a:buNone/>
            </a:pPr>
            <a:r>
              <a:rPr lang="en-US" sz="17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 при бытовой проблеме (протечка, лифт, мусор) хочет, чтобы её устранили. Но он не знает, кто отвечает: УК, ресурсник или город. Ищет телефон, дозванивается и не видит ни статуса, ни сроков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63240"/>
            <a:ext cx="6583680" cy="566928"/>
          </a:xfrm>
          <a:prstGeom prst="roundRect">
            <a:avLst>
              <a:gd name="adj" fmla="val 50000"/>
            </a:avLst>
          </a:prstGeom>
          <a:solidFill>
            <a:srgbClr val="FE781A"/>
          </a:solidFill>
          <a:ln w="19050">
            <a:solidFill>
              <a:srgbClr val="0A1A3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A1A3E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решается долго, доверие к УК падает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259" y="4131259"/>
            <a:ext cx="332842" cy="332842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71600" y="399592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знает, кому писать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1371600" y="431596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УК, РСО или муниципалитет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84632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259" y="499993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71600" y="48646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Долго дозваниваться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371600" y="51846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Диспетчерская занята, ответ устный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548640" y="57150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259" y="5868619"/>
            <a:ext cx="332842" cy="332842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1371600" y="573328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 видит статуса</a:t>
            </a:r>
            <a:endParaRPr lang="en-US" sz="1600" dirty="0"/>
          </a:p>
        </p:txBody>
      </p:sp>
      <p:sp>
        <p:nvSpPr>
          <p:cNvPr id="18" name="Text 12"/>
          <p:cNvSpPr txBox="1"/>
          <p:nvPr/>
        </p:nvSpPr>
        <p:spPr>
          <a:xfrm>
            <a:off x="137160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Выполнено - это слова диспетчера</a:t>
            </a:r>
            <a:endParaRPr lang="en-US" sz="1350" dirty="0"/>
          </a:p>
        </p:txBody>
      </p:sp>
      <p:sp>
        <p:nvSpPr>
          <p:cNvPr id="19" name="Shape 13"/>
          <p:cNvSpPr/>
          <p:nvPr/>
        </p:nvSpPr>
        <p:spPr>
          <a:xfrm>
            <a:off x="7863840" y="1417320"/>
            <a:ext cx="3776472" cy="3063240"/>
          </a:xfrm>
          <a:prstGeom prst="roundRect">
            <a:avLst>
              <a:gd name="adj" fmla="val 5970"/>
            </a:avLst>
          </a:prstGeom>
          <a:solidFill>
            <a:srgbClr val="D5D9E6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8138160" y="1600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подтверждаем</a:t>
            </a:r>
            <a:endParaRPr lang="en-US" sz="1400" dirty="0"/>
          </a:p>
        </p:txBody>
      </p:sp>
      <p:sp>
        <p:nvSpPr>
          <p:cNvPr id="21" name="Text 15"/>
          <p:cNvSpPr txBox="1"/>
          <p:nvPr/>
        </p:nvSpPr>
        <p:spPr>
          <a:xfrm>
            <a:off x="8138160" y="2057400"/>
            <a:ext cx="329184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Факт: с 01.09.2026 УК обязаны работать с жителями через MAX (ПП РФ № 40)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Факт: ПП РФ № 416 задаёт каналы и сроки ответа на обращения</a:t>
            </a:r>
            <a:endParaRPr lang="en-US" sz="130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[Выводы CustDev: N интервью, ключевые цитаты]</a:t>
            </a:r>
            <a:endParaRPr lang="en-US" sz="1300" dirty="0"/>
          </a:p>
        </p:txBody>
      </p:sp>
      <p:sp>
        <p:nvSpPr>
          <p:cNvPr id="22" name="says:59091:20000"/>
          <p:cNvSpPr/>
          <p:nvPr/>
        </p:nvSpPr>
        <p:spPr>
          <a:xfrm>
            <a:off x="7863840" y="4892040"/>
            <a:ext cx="2514600" cy="914400"/>
          </a:xfrm>
          <a:prstGeom prst="wedgeRoundRectCallout">
            <a:avLst>
              <a:gd name="adj1" fmla="val 59091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010144" y="4946904"/>
            <a:ext cx="2221992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Сегодня статус заявки - это то, что сказали по телефону</a:t>
            </a:r>
            <a:endParaRPr lang="en-US" sz="1250" dirty="0"/>
          </a:p>
        </p:txBody>
      </p:sp>
      <p:pic>
        <p:nvPicPr>
          <p:cNvPr id="24" name="Image 4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25328" y="5029200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Почему сейчас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01.09.2026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обязаны взаимодействовать с жителями через MAX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4,2 млрд м²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общая площадь жилищного фонда России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Росстат, 2024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0" y="18288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49 312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3108960"/>
            <a:ext cx="3383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управляющих организаций в реестре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4069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ЖКХ, 09.2026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3492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Требование уже действует, а готового инструмента у большинства УК нет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закрывает его за УК и даёт жителю прозрачный канал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кого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57784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37360"/>
            <a:ext cx="731520" cy="73152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8525" y="1912925"/>
            <a:ext cx="380390" cy="38039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73736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Приоритетный сегмент</a:t>
            </a:r>
            <a:endParaRPr 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1737360" y="205740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Собственник квартиры в МКД под управлением УК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0632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Первым сталкивается с проблемой в квартире и в доме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Платит по квитанции и хочет понимать, за что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 в месяц передаёт показания: это превращает редкую заявку в привычку</a:t>
            </a:r>
            <a:endParaRPr lang="en-US" sz="15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Голосует на собраниях и хочет знать, наберётся ли кворум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6400800" y="1463040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583680" y="1664208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7299" y="1817827"/>
            <a:ext cx="332842" cy="332842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7406640" y="1618488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Сотрудник УК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7406640" y="1938528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и админ: заявки, дома, показания, объявления</a:t>
            </a:r>
            <a:endParaRPr lang="en-US" sz="1250" dirty="0"/>
          </a:p>
        </p:txBody>
      </p:sp>
      <p:sp>
        <p:nvSpPr>
          <p:cNvPr id="16" name="Shape 11"/>
          <p:cNvSpPr/>
          <p:nvPr/>
        </p:nvSpPr>
        <p:spPr>
          <a:xfrm>
            <a:off x="6400800" y="2679192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6583680" y="288036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7299" y="3033979"/>
            <a:ext cx="332842" cy="332842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7406640" y="283464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</a:t>
            </a:r>
            <a:endParaRPr lang="en-US" sz="1500" dirty="0"/>
          </a:p>
        </p:txBody>
      </p:sp>
      <p:sp>
        <p:nvSpPr>
          <p:cNvPr id="20" name="Text 14"/>
          <p:cNvSpPr txBox="1"/>
          <p:nvPr/>
        </p:nvSpPr>
        <p:spPr>
          <a:xfrm>
            <a:off x="7406640" y="3154680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Мастер: карточка заявки прямо в диалоге с ботом, без мини-приложения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6400800" y="3895344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583680" y="409651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37299" y="4250131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7406640" y="4050792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Председатель совета дома</a:t>
            </a:r>
            <a:endParaRPr lang="en-US" sz="1500" dirty="0"/>
          </a:p>
        </p:txBody>
      </p:sp>
      <p:sp>
        <p:nvSpPr>
          <p:cNvPr id="25" name="Text 18"/>
          <p:cNvSpPr txBox="1"/>
          <p:nvPr/>
        </p:nvSpPr>
        <p:spPr>
          <a:xfrm>
            <a:off x="7406640" y="4370832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Опросы, прогноз кворума, домовой чат</a:t>
            </a:r>
            <a:endParaRPr lang="en-US" sz="1250" dirty="0"/>
          </a:p>
        </p:txBody>
      </p:sp>
      <p:sp>
        <p:nvSpPr>
          <p:cNvPr id="26" name="Shape 19"/>
          <p:cNvSpPr/>
          <p:nvPr/>
        </p:nvSpPr>
        <p:spPr>
          <a:xfrm>
            <a:off x="6400800" y="5111496"/>
            <a:ext cx="5239512" cy="1051560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27" name="Shape 20"/>
          <p:cNvSpPr/>
          <p:nvPr/>
        </p:nvSpPr>
        <p:spPr>
          <a:xfrm>
            <a:off x="6583680" y="531266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7299" y="5466283"/>
            <a:ext cx="332842" cy="332842"/>
          </a:xfrm>
          <a:prstGeom prst="rect">
            <a:avLst/>
          </a:prstGeom>
        </p:spPr>
      </p:pic>
      <p:sp>
        <p:nvSpPr>
          <p:cNvPr id="29" name="Text 21"/>
          <p:cNvSpPr txBox="1"/>
          <p:nvPr/>
        </p:nvSpPr>
        <p:spPr>
          <a:xfrm>
            <a:off x="7406640" y="5266944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Арендатор</a:t>
            </a:r>
            <a:endParaRPr lang="en-US" sz="1500" dirty="0"/>
          </a:p>
        </p:txBody>
      </p:sp>
      <p:sp>
        <p:nvSpPr>
          <p:cNvPr id="30" name="Text 22"/>
          <p:cNvSpPr txBox="1"/>
          <p:nvPr/>
        </p:nvSpPr>
        <p:spPr>
          <a:xfrm>
            <a:off x="7406640" y="5586984"/>
            <a:ext cx="4069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Входит по коду собственника, без начислений и голосов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Было и стало</a:t>
            </a:r>
            <a:endParaRPr lang="en-US" sz="28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749040"/>
                <a:gridCol w="4599432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Задача жителя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Сейчас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 Жэкой</a:t>
                      </a:r>
                      <a:endParaRPr lang="en-US" sz="14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Узнать, кто отвечает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Искать в квитанции и на доске у подъезда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знает УК дома, дом можно найти по адресу, геопозиции или QR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Сообщить о проблеме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Дозвон в диспетчерскую, устно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Заявка с фото и категорией за минуту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Узнать статус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Перезванивать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Бот пишет при каждой смене статуса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Подтвердить работу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Диспетчер отмечает «выполнено»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Житель принимает работу по фото и может подать повторную заявку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Передать показания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Бумажка в ящике или сайт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Фото счётчика, распознанное значение, сравнение с домом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Понять квитанцию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Звонок диспетчеру, который не знает ответа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Разбор суммы: объём или тариф, построчно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Основной сценарий жителя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221540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011680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Открыл бота</a:t>
            </a:r>
            <a:endParaRPr lang="en-US" sz="1550" dirty="0"/>
          </a:p>
        </p:txBody>
      </p:sp>
      <p:sp>
        <p:nvSpPr>
          <p:cNvPr id="10" name="Text 6"/>
          <p:cNvSpPr txBox="1"/>
          <p:nvPr/>
        </p:nvSpPr>
        <p:spPr>
          <a:xfrm>
            <a:off x="777240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 QR у лифта, из домового чата или по ссылке</a:t>
            </a:r>
            <a:endParaRPr lang="en-US" sz="1250" dirty="0"/>
          </a:p>
        </p:txBody>
      </p:sp>
      <p:sp>
        <p:nvSpPr>
          <p:cNvPr id="11" name="Shape 7"/>
          <p:cNvSpPr/>
          <p:nvPr/>
        </p:nvSpPr>
        <p:spPr>
          <a:xfrm>
            <a:off x="2642616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807208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35808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3816" y="2215408"/>
            <a:ext cx="342351" cy="342351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4270248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000" dirty="0"/>
          </a:p>
        </p:txBody>
      </p:sp>
      <p:sp>
        <p:nvSpPr>
          <p:cNvPr id="16" name="Text 11"/>
          <p:cNvSpPr txBox="1"/>
          <p:nvPr/>
        </p:nvSpPr>
        <p:spPr>
          <a:xfrm>
            <a:off x="3035808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Нашёл дом</a:t>
            </a:r>
            <a:endParaRPr lang="en-US" sz="1550" dirty="0"/>
          </a:p>
        </p:txBody>
      </p:sp>
      <p:sp>
        <p:nvSpPr>
          <p:cNvPr id="17" name="Text 12"/>
          <p:cNvSpPr txBox="1"/>
          <p:nvPr/>
        </p:nvSpPr>
        <p:spPr>
          <a:xfrm>
            <a:off x="3035808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Город, улица, дом или геопозиция. Согласие на ПД до выбора дома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4901184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19" name="Shape 14"/>
          <p:cNvSpPr/>
          <p:nvPr/>
        </p:nvSpPr>
        <p:spPr>
          <a:xfrm>
            <a:off x="5065776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5294376" y="2057400"/>
            <a:ext cx="658368" cy="658368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2384" y="2215408"/>
            <a:ext cx="342351" cy="342351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528816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000" dirty="0"/>
          </a:p>
        </p:txBody>
      </p:sp>
      <p:sp>
        <p:nvSpPr>
          <p:cNvPr id="23" name="Text 17"/>
          <p:cNvSpPr txBox="1"/>
          <p:nvPr/>
        </p:nvSpPr>
        <p:spPr>
          <a:xfrm>
            <a:off x="5294376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Оставил заявку</a:t>
            </a:r>
            <a:endParaRPr lang="en-US" sz="1550" dirty="0"/>
          </a:p>
        </p:txBody>
      </p:sp>
      <p:sp>
        <p:nvSpPr>
          <p:cNvPr id="24" name="Text 18"/>
          <p:cNvSpPr txBox="1"/>
          <p:nvPr/>
        </p:nvSpPr>
        <p:spPr>
          <a:xfrm>
            <a:off x="5294376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Категория, описание, фото. Категорию подсказывает модель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7159752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0"/>
          <p:cNvSpPr/>
          <p:nvPr/>
        </p:nvSpPr>
        <p:spPr>
          <a:xfrm>
            <a:off x="7324344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552944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0952" y="2215408"/>
            <a:ext cx="342351" cy="342351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8787384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000" dirty="0"/>
          </a:p>
        </p:txBody>
      </p:sp>
      <p:sp>
        <p:nvSpPr>
          <p:cNvPr id="30" name="Text 23"/>
          <p:cNvSpPr txBox="1"/>
          <p:nvPr/>
        </p:nvSpPr>
        <p:spPr>
          <a:xfrm>
            <a:off x="7552944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Видит статус</a:t>
            </a:r>
            <a:endParaRPr lang="en-US" sz="1550" dirty="0"/>
          </a:p>
        </p:txBody>
      </p:sp>
      <p:sp>
        <p:nvSpPr>
          <p:cNvPr id="31" name="Text 24"/>
          <p:cNvSpPr txBox="1"/>
          <p:nvPr/>
        </p:nvSpPr>
        <p:spPr>
          <a:xfrm>
            <a:off x="7552944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Номер, срок, сообщение при каждой смене статуса</a:t>
            </a:r>
            <a:endParaRPr lang="en-US" sz="1250" dirty="0"/>
          </a:p>
        </p:txBody>
      </p:sp>
      <p:sp>
        <p:nvSpPr>
          <p:cNvPr id="32" name="Shape 25"/>
          <p:cNvSpPr/>
          <p:nvPr/>
        </p:nvSpPr>
        <p:spPr>
          <a:xfrm>
            <a:off x="9418320" y="3246120"/>
            <a:ext cx="128016" cy="0"/>
          </a:xfrm>
          <a:prstGeom prst="line">
            <a:avLst/>
          </a:prstGeom>
          <a:noFill/>
          <a:ln w="19050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33" name="Shape 26"/>
          <p:cNvSpPr/>
          <p:nvPr/>
        </p:nvSpPr>
        <p:spPr>
          <a:xfrm>
            <a:off x="9582912" y="1828800"/>
            <a:ext cx="2057400" cy="28346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9811512" y="20574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969520" y="2215408"/>
            <a:ext cx="342351" cy="342351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11045952" y="2103120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000" b="1" dirty="0">
                <a:solidFill>
                  <a:srgbClr val="D5D9E6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5</a:t>
            </a:r>
            <a:endParaRPr lang="en-US" sz="2000" dirty="0"/>
          </a:p>
        </p:txBody>
      </p:sp>
      <p:sp>
        <p:nvSpPr>
          <p:cNvPr id="37" name="Text 29"/>
          <p:cNvSpPr txBox="1"/>
          <p:nvPr/>
        </p:nvSpPr>
        <p:spPr>
          <a:xfrm>
            <a:off x="9811512" y="285292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работу</a:t>
            </a:r>
            <a:endParaRPr lang="en-US" sz="1550" dirty="0"/>
          </a:p>
        </p:txBody>
      </p:sp>
      <p:sp>
        <p:nvSpPr>
          <p:cNvPr id="38" name="Text 30"/>
          <p:cNvSpPr txBox="1"/>
          <p:nvPr/>
        </p:nvSpPr>
        <p:spPr>
          <a:xfrm>
            <a:off x="9811512" y="3246120"/>
            <a:ext cx="1691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 «было - стало», оценка или повторная заявка</a:t>
            </a:r>
            <a:endParaRPr lang="en-US" sz="1250" dirty="0"/>
          </a:p>
        </p:txBody>
      </p:sp>
      <p:sp>
        <p:nvSpPr>
          <p:cNvPr id="39" name="says:-54386:20000"/>
          <p:cNvSpPr/>
          <p:nvPr/>
        </p:nvSpPr>
        <p:spPr>
          <a:xfrm>
            <a:off x="1801368" y="4983480"/>
            <a:ext cx="5212080" cy="868680"/>
          </a:xfrm>
          <a:prstGeom prst="wedgeRoundRectCallout">
            <a:avLst>
              <a:gd name="adj1" fmla="val -54386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40" name="Text 32"/>
          <p:cNvSpPr txBox="1"/>
          <p:nvPr/>
        </p:nvSpPr>
        <p:spPr>
          <a:xfrm>
            <a:off x="1947672" y="5038344"/>
            <a:ext cx="491947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Принял заявку № 1542. Мастер придёт завтра с 10:00 до 12:00. Напишу, когда будет в пути</a:t>
            </a:r>
            <a:endParaRPr lang="en-US" sz="1300" dirty="0"/>
          </a:p>
        </p:txBody>
      </p:sp>
      <p:pic>
        <p:nvPicPr>
          <p:cNvPr id="41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088636"/>
            <a:ext cx="1005840" cy="100584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406640" y="5120640"/>
            <a:ext cx="4206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ведёт короткие диалоги, статусы и уведомления, мини-приложение отвечает за формы, списки и историю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Две опоры продукта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22960" y="1783080"/>
            <a:ext cx="685800" cy="6858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552" y="1947672"/>
            <a:ext cx="356616" cy="35661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91640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Заявки: редко, но больно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22960" y="2697480"/>
            <a:ext cx="48920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Редкое, но самое болезненное событие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Полный цикл: подача, работа, исполнитель, приёмка жителем, оценка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Коллективные заявки склеиваются по дому, категории и времени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в диспетчерскую заводится в тот же конвейер статусов</a:t>
            </a:r>
            <a:endParaRPr lang="en-US" sz="1450" dirty="0"/>
          </a:p>
        </p:txBody>
      </p:sp>
      <p:sp>
        <p:nvSpPr>
          <p:cNvPr id="10" name="Shape 6"/>
          <p:cNvSpPr/>
          <p:nvPr/>
        </p:nvSpPr>
        <p:spPr>
          <a:xfrm>
            <a:off x="6245352" y="1508760"/>
            <a:ext cx="5394960" cy="4709160"/>
          </a:xfrm>
          <a:prstGeom prst="roundRect">
            <a:avLst>
              <a:gd name="adj" fmla="val 3883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519672" y="1783080"/>
            <a:ext cx="685800" cy="68580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4264" y="1947672"/>
            <a:ext cx="356616" cy="356616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88352" y="1901952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Счётчики: каждый месяц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6519672" y="2697480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Фото, распознанное значение, подтверждение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Расход и сравнение со средним по дому</a:t>
            </a:r>
            <a:endParaRPr lang="en-US" sz="14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Напоминания в окно подачи и перед поверкой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6519672" y="4206240"/>
            <a:ext cx="4846320" cy="1783080"/>
          </a:xfrm>
          <a:prstGeom prst="roundRect">
            <a:avLst>
              <a:gd name="adj" fmla="val 7179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766560" y="4343400"/>
            <a:ext cx="44805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+820 ₽ к августу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+640  ГВС: расход вырос на 4 м³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+180  содержание: новый тариф с 01.09</a:t>
            </a:r>
            <a:endParaRPr lang="en-US" sz="1500" dirty="0"/>
          </a:p>
          <a:p>
            <a:pPr indent="0" marL="0">
              <a:buNone/>
            </a:pPr>
            <a:r>
              <a:rPr lang="en-US" sz="115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квитанции: почему выросла сумма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Чего нет в обычном боте заявок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918411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коллективных заявок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«На это уже пожаловались 7 соседей»: одна группа на стояк вместо дюжины дублей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918411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Исполнитель и приёмка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Мастер жмёт «принял - выехал - готово» с фото, «выполнено» подтверждает житель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50876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76479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918411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Разбор квитанции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56032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Рост суммы раскладывается на объём и тариф, спор уходит заявкой с расчётом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548640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804672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291" y="4295851"/>
            <a:ext cx="332842" cy="332842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572768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 по площади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804672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«47 квартир - 38% площади»: председатель видит, прошло бы собрание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4315968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572000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295851"/>
            <a:ext cx="332842" cy="332842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5340096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на подъезде</a:t>
            </a:r>
            <a:endParaRPr lang="en-US" sz="1500" dirty="0"/>
          </a:p>
        </p:txBody>
      </p:sp>
      <p:sp>
        <p:nvSpPr>
          <p:cNvPr id="29" name="Text 21"/>
          <p:cNvSpPr txBox="1"/>
          <p:nvPr/>
        </p:nvSpPr>
        <p:spPr>
          <a:xfrm>
            <a:off x="4572000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 уже выбран, остаются согласие и номер квартиры</a:t>
            </a:r>
            <a:endParaRPr lang="en-US" sz="1300" dirty="0"/>
          </a:p>
        </p:txBody>
      </p:sp>
      <p:sp>
        <p:nvSpPr>
          <p:cNvPr id="30" name="Shape 22"/>
          <p:cNvSpPr/>
          <p:nvPr/>
        </p:nvSpPr>
        <p:spPr>
          <a:xfrm>
            <a:off x="8083296" y="3886200"/>
            <a:ext cx="3547872" cy="2148840"/>
          </a:xfrm>
          <a:prstGeom prst="roundRect">
            <a:avLst>
              <a:gd name="adj" fmla="val 8511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339328" y="4142232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2947" y="4295851"/>
            <a:ext cx="332842" cy="332842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107424" y="41605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Заявка по звонку</a:t>
            </a:r>
            <a:endParaRPr lang="en-US" sz="1500" dirty="0"/>
          </a:p>
        </p:txBody>
      </p:sp>
      <p:sp>
        <p:nvSpPr>
          <p:cNvPr id="34" name="Text 25"/>
          <p:cNvSpPr txBox="1"/>
          <p:nvPr/>
        </p:nvSpPr>
        <p:spPr>
          <a:xfrm>
            <a:off x="8339328" y="4937760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Звонок диспетчеру попадает в тот же прозрачный конвейер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это выглядит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731520" y="1508760"/>
            <a:ext cx="2240280" cy="4572000"/>
          </a:xfrm>
          <a:prstGeom prst="roundRect">
            <a:avLst>
              <a:gd name="adj" fmla="val 11429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41248" y="1828800"/>
            <a:ext cx="2020824" cy="4069080"/>
          </a:xfrm>
          <a:prstGeom prst="roundRect">
            <a:avLst>
              <a:gd name="adj" fmla="val 5430"/>
            </a:avLst>
          </a:prstGeom>
          <a:solidFill>
            <a:srgbClr val="D5D9E6"/>
          </a:solidFill>
          <a:ln w="12700">
            <a:solidFill>
              <a:srgbClr val="5A6B8C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Скриншот: главная жителя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3566160" y="1508760"/>
            <a:ext cx="2240280" cy="4572000"/>
          </a:xfrm>
          <a:prstGeom prst="roundRect">
            <a:avLst>
              <a:gd name="adj" fmla="val 11429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3675888" y="1828800"/>
            <a:ext cx="2020824" cy="4069080"/>
          </a:xfrm>
          <a:prstGeom prst="roundRect">
            <a:avLst>
              <a:gd name="adj" fmla="val 5430"/>
            </a:avLst>
          </a:prstGeom>
          <a:solidFill>
            <a:srgbClr val="D5D9E6"/>
          </a:solidFill>
          <a:ln w="12700">
            <a:solidFill>
              <a:srgbClr val="5A6B8C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Скриншот: заявка и её статус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1508760"/>
            <a:ext cx="2240280" cy="4572000"/>
          </a:xfrm>
          <a:prstGeom prst="roundRect">
            <a:avLst>
              <a:gd name="adj" fmla="val 11429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6510528" y="1828800"/>
            <a:ext cx="2020824" cy="4069080"/>
          </a:xfrm>
          <a:prstGeom prst="roundRect">
            <a:avLst>
              <a:gd name="adj" fmla="val 5430"/>
            </a:avLst>
          </a:prstGeom>
          <a:solidFill>
            <a:srgbClr val="D5D9E6"/>
          </a:solidFill>
          <a:ln w="12700">
            <a:solidFill>
              <a:srgbClr val="5A6B8C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Скриншот: показания по фото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235440" y="1508760"/>
            <a:ext cx="2240280" cy="4572000"/>
          </a:xfrm>
          <a:prstGeom prst="roundRect">
            <a:avLst>
              <a:gd name="adj" fmla="val 11429"/>
            </a:avLst>
          </a:prstGeom>
          <a:solidFill>
            <a:srgbClr val="0A1A3E"/>
          </a:solidFill>
          <a:ln w="1270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548AB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9345168" y="1828800"/>
            <a:ext cx="2020824" cy="4069080"/>
          </a:xfrm>
          <a:prstGeom prst="roundRect">
            <a:avLst>
              <a:gd name="adj" fmla="val 5430"/>
            </a:avLst>
          </a:prstGeom>
          <a:solidFill>
            <a:srgbClr val="D5D9E6"/>
          </a:solidFill>
          <a:ln w="12700">
            <a:solidFill>
              <a:srgbClr val="5A6B8C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Скриншот: сообщение бота о статусе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Кабинет УК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4475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</a:t>
            </a:r>
            <a:endParaRPr lang="en-US" sz="160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1051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Группы коллективных заявок, назначение исполнителя, просрочка по нормативу и готовый текст для ГЖИ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3347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доступ в квартиры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299923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Запись жителей на приём, сбор окон доступа: «ответили 9 из 14»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2219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 и объявления</a:t>
            </a:r>
            <a:endParaRPr lang="en-US" sz="160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18795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Жители, подтверждение квартир, показания, объявления в домовые чаты, QR для подъездов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10912"/>
            <a:ext cx="4846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</a:t>
            </a:r>
            <a:endParaRPr lang="en-US" sz="160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76672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реакции, доля повторных, исполнители, каналы заявок, обезличенный бенчмарк с другими УК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6675120" y="1463040"/>
            <a:ext cx="4965192" cy="4480560"/>
          </a:xfrm>
          <a:prstGeom prst="roundRect">
            <a:avLst>
              <a:gd name="adj" fmla="val 2449"/>
            </a:avLst>
          </a:prstGeom>
          <a:solidFill>
            <a:srgbClr val="D5D9E6"/>
          </a:solidFill>
          <a:ln w="12700">
            <a:solidFill>
              <a:srgbClr val="5A6B8C"/>
            </a:solidFill>
            <a:prstDash val="dash"/>
          </a:ln>
        </p:spPr>
        <p:txBody>
          <a:bodyPr wrap="square" lIns="101600" tIns="101600" rIns="101600" bIns="1016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Скриншот: дашборд аналитики УК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Возможности MAX сверх минимума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7724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248" y="1941088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Домовые чаты</a:t>
            </a:r>
            <a:endParaRPr lang="en-US" sz="1550" dirty="0"/>
          </a:p>
        </p:txBody>
      </p:sp>
      <p:sp>
        <p:nvSpPr>
          <p:cNvPr id="9" name="Text 5"/>
          <p:cNvSpPr txBox="1"/>
          <p:nvPr/>
        </p:nvSpPr>
        <p:spPr>
          <a:xfrm>
            <a:off x="164592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в чате дома: объявления УК, список закрепов, диплинк на привязку дома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4864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7724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5248" y="3404128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64592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Три уровня уведомлений</a:t>
            </a:r>
            <a:endParaRPr lang="en-US" sz="1550" dirty="0"/>
          </a:p>
        </p:txBody>
      </p:sp>
      <p:sp>
        <p:nvSpPr>
          <p:cNvPr id="14" name="Text 9"/>
          <p:cNvSpPr txBox="1"/>
          <p:nvPr/>
        </p:nvSpPr>
        <p:spPr>
          <a:xfrm>
            <a:off x="164592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 звуком, без звука или выключены, по категориям. Статусы своих заявок не отключаются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548640" y="443484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77240" y="47091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5248" y="4867168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6177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Живые сообщения</a:t>
            </a:r>
            <a:endParaRPr lang="en-US" sz="1550" dirty="0"/>
          </a:p>
        </p:txBody>
      </p:sp>
      <p:sp>
        <p:nvSpPr>
          <p:cNvPr id="19" name="Text 13"/>
          <p:cNvSpPr txBox="1"/>
          <p:nvPr/>
        </p:nvSpPr>
        <p:spPr>
          <a:xfrm>
            <a:off x="1645920" y="496519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исполнителя и приёмка редактируются на месте, а не множатся</a:t>
            </a:r>
            <a:endParaRPr lang="en-US" sz="1250" dirty="0"/>
          </a:p>
        </p:txBody>
      </p:sp>
      <p:sp>
        <p:nvSpPr>
          <p:cNvPr id="20" name="Shape 14"/>
          <p:cNvSpPr/>
          <p:nvPr/>
        </p:nvSpPr>
        <p:spPr>
          <a:xfrm>
            <a:off x="6217920" y="150876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46520" y="17830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04528" y="1941088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169164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Диплинки и QR</a:t>
            </a:r>
            <a:endParaRPr lang="en-US" sz="1550" dirty="0"/>
          </a:p>
        </p:txBody>
      </p:sp>
      <p:sp>
        <p:nvSpPr>
          <p:cNvPr id="24" name="Text 17"/>
          <p:cNvSpPr txBox="1"/>
          <p:nvPr/>
        </p:nvSpPr>
        <p:spPr>
          <a:xfrm>
            <a:off x="7315200" y="203911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Приглашения сотрудников и арендаторов, подъездный QR</a:t>
            </a:r>
            <a:endParaRPr lang="en-US" sz="1250" dirty="0"/>
          </a:p>
        </p:txBody>
      </p:sp>
      <p:sp>
        <p:nvSpPr>
          <p:cNvPr id="25" name="Shape 18"/>
          <p:cNvSpPr/>
          <p:nvPr/>
        </p:nvSpPr>
        <p:spPr>
          <a:xfrm>
            <a:off x="6217920" y="2971800"/>
            <a:ext cx="5394960" cy="1234440"/>
          </a:xfrm>
          <a:prstGeom prst="roundRect">
            <a:avLst>
              <a:gd name="adj" fmla="val 1481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6446520" y="324612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4528" y="3404128"/>
            <a:ext cx="342351" cy="342351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7315200" y="315468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Связка бот + мини-приложение</a:t>
            </a:r>
            <a:endParaRPr lang="en-US" sz="1550" dirty="0"/>
          </a:p>
        </p:txBody>
      </p:sp>
      <p:sp>
        <p:nvSpPr>
          <p:cNvPr id="29" name="Text 21"/>
          <p:cNvSpPr txBox="1"/>
          <p:nvPr/>
        </p:nvSpPr>
        <p:spPr>
          <a:xfrm>
            <a:off x="7315200" y="3502152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Диалог для коротких действий, приложение для форм и истории</a:t>
            </a:r>
            <a:endParaRPr lang="en-US" sz="1250" dirty="0"/>
          </a:p>
        </p:txBody>
      </p:sp>
      <p:sp>
        <p:nvSpPr>
          <p:cNvPr id="30" name="says:56410:20000"/>
          <p:cNvSpPr/>
          <p:nvPr/>
        </p:nvSpPr>
        <p:spPr>
          <a:xfrm>
            <a:off x="6812280" y="4983480"/>
            <a:ext cx="3566160" cy="868680"/>
          </a:xfrm>
          <a:prstGeom prst="wedgeRoundRectCallout">
            <a:avLst>
              <a:gd name="adj1" fmla="val 56410"/>
              <a:gd name="adj2" fmla="val 20000"/>
              <a:gd name="adj3" fmla="val 1666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6958584" y="5038344"/>
            <a:ext cx="3273552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 настоящих мастеров уже стоит MAX</a:t>
            </a:r>
            <a:endParaRPr lang="en-US" sz="1300" dirty="0"/>
          </a:p>
        </p:txBody>
      </p:sp>
      <p:pic>
        <p:nvPicPr>
          <p:cNvPr id="32" name="Image 6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5328" y="5088636"/>
            <a:ext cx="100584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Чем закрывают задачу сейчас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1672" cy="914400"/>
        </p:xfrm>
        <a:graphic>
          <a:graphicData uri="http://schemas.openxmlformats.org/drawingml/2006/table">
            <a:tbl>
              <a:tblPr/>
              <a:tblGrid>
                <a:gridCol w="3410712"/>
                <a:gridCol w="1920240"/>
                <a:gridCol w="1920240"/>
                <a:gridCol w="1920240"/>
                <a:gridCol w="19202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Телефон диспетчерской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Домовой чат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Сайт или приложение УК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6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Жэка</a:t>
                      </a:r>
                      <a:endParaRPr lang="en-US" sz="130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958D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Видно, кто отвечает за дом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Статус и срок заявки видны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Работу подтверждает житель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Показания без визита и звонка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частично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Один вход для любой УК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 нужно ставить приложение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173267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dirty="0">
                          <a:solidFill>
                            <a:srgbClr val="5A6B8C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нет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50" b="1" dirty="0">
                          <a:solidFill>
                            <a:srgbClr val="0958DF"/>
                          </a:solidFill>
                          <a:latin typeface="Manrope" pitchFamily="34" charset="0"/>
                          <a:ea typeface="Manrope" pitchFamily="34" charset="-122"/>
                          <a:cs typeface="Manrope" pitchFamily="34" charset="-120"/>
                        </a:rPr>
                        <a:t>да</a:t>
                      </a:r>
                      <a:endParaRPr lang="en-US" sz="1350" dirty="0">
                        <a:latin typeface="Manrope" charset="0"/>
                        <a:ea typeface="Manrope" charset="0"/>
                        <a:cs typeface="Manrope" charset="0"/>
                      </a:endParaRPr>
                    </a:p>
                  </a:txBody>
                  <a:tcPr marL="127000" marR="127000" marT="50800" marB="50800" anchor="ctr">
                    <a:lnL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D9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48640" y="5897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[Проверить оценки по конкретным приложениям УК и ГИС ЖКХ перед сдачей]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Ожидаемый эффект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716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Если житель сообщает о проблеме в MAX и сам принимает работу, заявка регистрируется быстрее, а статус «выполнено» становится фактом, потому что его подтверждает вторая сторона</a:t>
            </a:r>
            <a:endParaRPr lang="en-US" sz="1550" dirty="0"/>
          </a:p>
        </p:txBody>
      </p:sp>
      <p:sp>
        <p:nvSpPr>
          <p:cNvPr id="6" name="Shape 3"/>
          <p:cNvSpPr/>
          <p:nvPr/>
        </p:nvSpPr>
        <p:spPr>
          <a:xfrm>
            <a:off x="548640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822960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&lt; 1 мин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от проблемы до заявки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сейчас: минуты и часы на поиск и дозвон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90288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100%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4590288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заявок с прозрачным статусом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4590288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сейчас: около нуля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8083296" y="2377440"/>
            <a:ext cx="3547872" cy="192024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8357616" y="25603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 группа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8357616" y="33375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вместо дюжины дублей со стояка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57616" y="370332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по дому, категории и окну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548640" y="4572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Как проверим после запуска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498348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УК рядом с нормативным сроком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жителем, против закрытых по таймауту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повторных заявок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6217920" y="4983480"/>
            <a:ext cx="53949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 против записанных со звонка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без визита и звонка</a:t>
            </a:r>
            <a:endParaRPr lang="en-US" sz="1350" dirty="0"/>
          </a:p>
          <a:p>
            <a:pPr marL="203200" indent="-2032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доля квартир дома в продукте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Границы MVP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0958D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Must: сделано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на ПД и онбординг в боте и приложении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Заявки полным циклом с ролью УК и уведомлениями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Счётчики: окно, проверка, поверка, расход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Карточка дома, опросы, домовые чаты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Роли в УК, приглашения, демо-доступ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Аналитика УК, Docker, README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4315968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E7CF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Should: сделано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4407408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OCR показаний и подсказка категории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Подтверждение квартиры, квитанции, демо-оплата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Склейка заявок, QR, исполнитель и приёмка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Приём и сбор доступа, разбор квитанции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Прогноз кворума, заявка по звонку, бенчмарк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8083296" y="1463040"/>
            <a:ext cx="3547872" cy="502920"/>
          </a:xfrm>
          <a:prstGeom prst="roundRect">
            <a:avLst>
              <a:gd name="adj" fmla="val 49091"/>
            </a:avLst>
          </a:prstGeom>
          <a:solidFill>
            <a:srgbClr val="173267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Won't: сознательно нет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8174736" y="2194560"/>
            <a:ext cx="338328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Реальная оплата и эквайринг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Юридически значимое ОСС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Интеграция с ГИС ЖКХ и биллингом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Кабинет оператора платформы</a:t>
            </a:r>
            <a:endParaRPr lang="en-US" sz="135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Своя копия сервиса у каждой УК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Архитектура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2788920"/>
            <a:ext cx="2103120" cy="1005840"/>
          </a:xfrm>
          <a:prstGeom prst="roundRect">
            <a:avLst>
              <a:gd name="adj" fmla="val 10909"/>
            </a:avLst>
          </a:prstGeom>
          <a:solidFill>
            <a:srgbClr val="0958D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85800" y="2788920"/>
            <a:ext cx="1828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D5D9E6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бот, мини-приложение, домовые чаты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200400" y="2788920"/>
            <a:ext cx="173736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37560" y="278892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nginx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HTTPS, разводит по путям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0" y="150876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62356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web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React + TypeScript, max-ui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0" y="283464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623560" y="283464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api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FastAPI, вебхук бота maxo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0" y="41605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623560" y="416052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worker, scheduler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taskiq: рассылки, напоминания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503920" y="2148840"/>
            <a:ext cx="3136392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41080" y="2148840"/>
            <a:ext cx="2862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PostgreSQL 16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дома, заявки, показания, события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503920" y="3474720"/>
            <a:ext cx="3136392" cy="7315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41080" y="3474720"/>
            <a:ext cx="28620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Redis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очередь задач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8503920" y="4617720"/>
            <a:ext cx="3136392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12700">
            <a:solidFill>
              <a:srgbClr val="173267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641080" y="4617720"/>
            <a:ext cx="28620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Yandex Vision OCR, AI Studio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показания по фото, категория заявки; необязательны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2651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headEnd type="triangle"/>
            <a:tailEnd type="triangle"/>
          </a:ln>
        </p:spPr>
      </p:sp>
      <p:sp>
        <p:nvSpPr>
          <p:cNvPr id="22" name="Shape 19"/>
          <p:cNvSpPr/>
          <p:nvPr/>
        </p:nvSpPr>
        <p:spPr>
          <a:xfrm flipV="1">
            <a:off x="4937760" y="1965960"/>
            <a:ext cx="548640" cy="10972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4937760" y="3291840"/>
            <a:ext cx="548640" cy="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 flipV="1">
            <a:off x="7772400" y="2606040"/>
            <a:ext cx="731520" cy="54864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7772400" y="3429000"/>
            <a:ext cx="73152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6629400" y="3749040"/>
            <a:ext cx="0" cy="4114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 flipV="1">
            <a:off x="7772400" y="3977640"/>
            <a:ext cx="731520" cy="640080"/>
          </a:xfrm>
          <a:prstGeom prst="line">
            <a:avLst/>
          </a:prstGeom>
          <a:noFill/>
          <a:ln w="15875">
            <a:solidFill>
              <a:srgbClr val="173267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>
            <a:off x="7772400" y="3566160"/>
            <a:ext cx="731520" cy="141732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29" name="Shape 26"/>
          <p:cNvSpPr/>
          <p:nvPr/>
        </p:nvSpPr>
        <p:spPr>
          <a:xfrm flipH="1" flipV="1">
            <a:off x="2651760" y="3611880"/>
            <a:ext cx="2834640" cy="1005840"/>
          </a:xfrm>
          <a:prstGeom prst="line">
            <a:avLst/>
          </a:prstGeom>
          <a:noFill/>
          <a:ln w="15875">
            <a:solidFill>
              <a:srgbClr val="173267"/>
            </a:solidFill>
            <a:prstDash val="dash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548640" y="58064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УК: мультитенант на общей схеме, изоляция фильтром по организации. Docker Compose поднимает всё одной командой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Данные и интеграции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165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реальных домов в справочнике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256032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города: Москва, Санкт-Петербург, Казань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4572000" y="14173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34</a:t>
            </a:r>
            <a:endParaRPr lang="en-US" sz="34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2194560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реальные УК из карточек домов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5669280" cy="301752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822960" y="3383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Открытые данные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840480"/>
            <a:ext cx="5212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ЖКХ: дома (год, этажность, площадь, помещения) и реестр УО, выгрузка на сентябрь 2026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OpenStreetMap: координаты через Nominatim и Overpass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ЖКХ: справочники НСИ для видов счётчиков и услуг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92240" y="1417320"/>
            <a:ext cx="5148072" cy="480060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766560" y="16002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Модельные данные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6766560" y="205740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Начисления, квитанции, лицевые счета, показания: синтетика, помечена в интерфейсе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Пять демо-УК с заведомо неверными ИНН и историей за 6 месяцев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Оплата демонстрационная, деньги не списываются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6766560" y="4160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Для продакшена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766560" y="457200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Выгрузка биллинга УК в таблицу начислений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API для домов и лицевых счетов</a:t>
            </a:r>
            <a:endParaRPr lang="en-US" sz="1300" dirty="0"/>
          </a:p>
          <a:p>
            <a:pPr marL="203200" indent="-203200"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ЕСИА или письмо на домен УК для проверки организации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Правовой контур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680" y="1922800"/>
            <a:ext cx="342351" cy="342351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64592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40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Жэка - канал, через который УК работает с жителями в MAX: обращения и запись на приём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217920" y="150876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473952" y="176479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960" y="1922800"/>
            <a:ext cx="342351" cy="342351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315200" y="187452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ПП РФ № 416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6473952" y="256032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п. 35: ответ тем же каналом. п. 36: самый длинный срок категории 72 часа при нормативе 10 рабочих дней. п. 38: заявки хранятся 3 года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54864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0467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2680" y="4300240"/>
            <a:ext cx="342351" cy="342351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64592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152-ФЗ</a:t>
            </a:r>
            <a:endParaRPr lang="en-US" sz="1500" dirty="0"/>
          </a:p>
        </p:txBody>
      </p:sp>
      <p:sp>
        <p:nvSpPr>
          <p:cNvPr id="19" name="Text 13"/>
          <p:cNvSpPr txBox="1"/>
          <p:nvPr/>
        </p:nvSpPr>
        <p:spPr>
          <a:xfrm>
            <a:off x="80467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Согласие до выбора дома, версия и дата согласия в базе. Данные жителя видит только УК его дома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6217920" y="3886200"/>
            <a:ext cx="5394960" cy="2103120"/>
          </a:xfrm>
          <a:prstGeom prst="roundRect">
            <a:avLst>
              <a:gd name="adj" fmla="val 869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473952" y="4142232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1960" y="4300240"/>
            <a:ext cx="342351" cy="342351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7315200" y="42519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Опросы - не ОСС</a:t>
            </a:r>
            <a:endParaRPr lang="en-US" sz="1500" dirty="0"/>
          </a:p>
        </p:txBody>
      </p:sp>
      <p:sp>
        <p:nvSpPr>
          <p:cNvPr id="24" name="Text 17"/>
          <p:cNvSpPr txBox="1"/>
          <p:nvPr/>
        </p:nvSpPr>
        <p:spPr>
          <a:xfrm>
            <a:off x="6473952" y="4937760"/>
            <a:ext cx="4892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помечен как предварительный: это репетиция собрания с прогнозом кворума, а не юридическое решение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Что сохраняется, что адаптируется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5394960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22960" y="1691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Ядро: переносится без изменений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286000"/>
            <a:ext cx="48920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Проблема жителя и сценарий заявки с приёмкой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Один бот на все УК, модель данных дом - квартира - житель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Счётчики, опросы, домовые чаты, роли в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Интерфейс бота и мини-приложения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245352" y="1463040"/>
            <a:ext cx="5394960" cy="4754880"/>
          </a:xfrm>
          <a:prstGeom prst="roundRect">
            <a:avLst>
              <a:gd name="adj" fmla="val 3846"/>
            </a:avLst>
          </a:prstGeom>
          <a:solidFill>
            <a:srgbClr val="F7F9FC"/>
          </a:solidFill>
          <a:ln w="12700">
            <a:solidFill>
              <a:srgbClr val="D5D9E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519672" y="169164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Переменная часть: меняется под регион и УК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519672" y="2514600"/>
            <a:ext cx="48920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домов: выгрузка Реформы ЖКХ по региону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Тарифы, окна подачи показаний, часовой пояс дома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Категории и сроки заявок под регламент УК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Интеграции: биллинг УК, ГИС ЖКХ, региональные системы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Бренд: white-label бот на токене УК на том же ядре</a:t>
            </a:r>
            <a:endParaRPr lang="en-US" sz="14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Путь тиражирования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3749040"/>
            <a:ext cx="2606040" cy="24688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7240" y="3931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E781A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4434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480060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1 УК, 5-10 домов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516636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[город пилота]. QR в подъездах, пост в домовом чате, сотрудники по приглашениям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3377184" y="3182112"/>
            <a:ext cx="2606040" cy="3035808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605784" y="3364992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3605784" y="3867912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Город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605784" y="423367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все УК города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3605784" y="4599432"/>
            <a:ext cx="2194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Регистрация УК по ИНН, дома из реестра. Спрос жителей на неподключённые дома как аргумент для УК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205728" y="2615184"/>
            <a:ext cx="2606040" cy="3602736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434328" y="2798064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6434328" y="3300984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Регион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34328" y="3666744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Москва, СПб, Татарстан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6434328" y="4032504"/>
            <a:ext cx="219456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Справочник домов уже загружен. Интеграция с биллингом крупных УК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9034272" y="2048256"/>
            <a:ext cx="2606040" cy="4169664"/>
          </a:xfrm>
          <a:prstGeom prst="roundRect">
            <a:avLst>
              <a:gd name="adj" fmla="val 7018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262872" y="2231136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958D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19"/>
          <p:cNvSpPr txBox="1"/>
          <p:nvPr/>
        </p:nvSpPr>
        <p:spPr>
          <a:xfrm>
            <a:off x="9262872" y="2734056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Сети и ТСЖ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9262872" y="3099816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white-label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9262872" y="3465576"/>
            <a:ext cx="219456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Свой бот на токене УК на общем ядре. ТСЖ и ЖСК с той же механикой</a:t>
            </a:r>
            <a:endParaRPr 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14630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Рынок: </a:t>
            </a:r>
            <a:pPr indent="0" marL="0">
              <a:buNone/>
            </a:pPr>
            <a:r>
              <a:rPr lang="en-US" sz="13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49 312 УО в реестре РФ. 59 853 МКД в Москве, Санкт-Петербурге и Казани. [SOM: оценка на 1-2 года]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Пилот и внедрение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6648" y="1621048"/>
            <a:ext cx="342351" cy="342351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417320" y="146304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</a:t>
            </a:r>
            <a:endParaRPr lang="en-US" sz="1550" dirty="0"/>
          </a:p>
        </p:txBody>
      </p:sp>
      <p:sp>
        <p:nvSpPr>
          <p:cNvPr id="8" name="Text 4"/>
          <p:cNvSpPr txBox="1"/>
          <p:nvPr/>
        </p:nvSpPr>
        <p:spPr>
          <a:xfrm>
            <a:off x="1417320" y="182880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[УК и 5-10 её домов, город]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548640" y="265176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648" y="2809768"/>
            <a:ext cx="342351" cy="342351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417320" y="265176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встраивается</a:t>
            </a:r>
            <a:endParaRPr lang="en-US" sz="1550" dirty="0"/>
          </a:p>
        </p:txBody>
      </p:sp>
      <p:sp>
        <p:nvSpPr>
          <p:cNvPr id="12" name="Text 7"/>
          <p:cNvSpPr txBox="1"/>
          <p:nvPr/>
        </p:nvSpPr>
        <p:spPr>
          <a:xfrm>
            <a:off x="1417320" y="301752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Диспетчер работает в кабинете вместо тетради. Звонки заводит заявкой, мастер получает карточку в MAX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548640" y="384048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648" y="3998488"/>
            <a:ext cx="342351" cy="342351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417320" y="384048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Кто нужен</a:t>
            </a:r>
            <a:endParaRPr lang="en-US" sz="1550" dirty="0"/>
          </a:p>
        </p:txBody>
      </p:sp>
      <p:sp>
        <p:nvSpPr>
          <p:cNvPr id="16" name="Text 10"/>
          <p:cNvSpPr txBox="1"/>
          <p:nvPr/>
        </p:nvSpPr>
        <p:spPr>
          <a:xfrm>
            <a:off x="1417320" y="420624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Владелец процесса в УК, диспетчер, 2-3 мастера, председатель совета дома</a:t>
            </a:r>
            <a:endParaRPr 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48640" y="5029200"/>
            <a:ext cx="658368" cy="65836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648" y="5187208"/>
            <a:ext cx="342351" cy="342351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417320" y="5029200"/>
            <a:ext cx="4754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b="1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Как придут жители</a:t>
            </a:r>
            <a:endParaRPr lang="en-US" sz="1550" dirty="0"/>
          </a:p>
        </p:txBody>
      </p:sp>
      <p:sp>
        <p:nvSpPr>
          <p:cNvPr id="20" name="Text 13"/>
          <p:cNvSpPr txBox="1"/>
          <p:nvPr/>
        </p:nvSpPr>
        <p:spPr>
          <a:xfrm>
            <a:off x="1417320" y="5394960"/>
            <a:ext cx="4754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QR у лифта, объявление в домовом чате, строка в квитанции</a:t>
            </a:r>
            <a:endParaRPr lang="en-US" sz="1300" dirty="0"/>
          </a:p>
        </p:txBody>
      </p:sp>
      <p:sp>
        <p:nvSpPr>
          <p:cNvPr id="21" name="Shape 14"/>
          <p:cNvSpPr/>
          <p:nvPr/>
        </p:nvSpPr>
        <p:spPr>
          <a:xfrm>
            <a:off x="6583680" y="1463040"/>
            <a:ext cx="5056632" cy="475488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22" name="Text 15"/>
          <p:cNvSpPr txBox="1"/>
          <p:nvPr/>
        </p:nvSpPr>
        <p:spPr>
          <a:xfrm>
            <a:off x="6858000" y="16916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Метрики пилота за 2 месяца</a:t>
            </a:r>
            <a:endParaRPr lang="en-US" sz="1500" dirty="0"/>
          </a:p>
        </p:txBody>
      </p:sp>
      <p:sp>
        <p:nvSpPr>
          <p:cNvPr id="23" name="Text 16"/>
          <p:cNvSpPr txBox="1"/>
          <p:nvPr/>
        </p:nvSpPr>
        <p:spPr>
          <a:xfrm>
            <a:off x="6858000" y="2240280"/>
            <a:ext cx="45720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Охват: [N]% квартир подключены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заявок цифрой: [N]%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Время реакции УК в пределах норматива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работ, принятых жителем: [N]%</a:t>
            </a:r>
            <a:endParaRPr lang="en-US" sz="145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45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Доля показаний через бота: [N]%</a:t>
            </a:r>
            <a:endParaRPr lang="en-US" sz="1450" dirty="0"/>
          </a:p>
        </p:txBody>
      </p:sp>
      <p:sp>
        <p:nvSpPr>
          <p:cNvPr id="24" name="Text 17"/>
          <p:cNvSpPr txBox="1"/>
          <p:nvPr/>
        </p:nvSpPr>
        <p:spPr>
          <a:xfrm>
            <a:off x="6858000" y="5074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958D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Следующий шаг: все дома пилотной УК, затем соседние УК города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Ограничения, риски и допущения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548640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804672" y="1691640"/>
            <a:ext cx="640080" cy="640080"/>
          </a:xfrm>
          <a:prstGeom prst="ellipse">
            <a:avLst/>
          </a:prstGeom>
          <a:solidFill>
            <a:srgbClr val="FE781A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291" y="1845259"/>
            <a:ext cx="332842" cy="33284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572768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MVP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804672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Начисления и лицевые счета модельные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Организация регистрируется без проверки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интеграции с ГИС ЖКХ и биллингом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Опрос не заменяет ОСС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4315968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72000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1845259"/>
            <a:ext cx="332842" cy="332842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340096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Ограничения MAX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572000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30 запросов в секунду на бота: рассылка на 1 000 жителей около 35 секунд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Бот не пишет первым тем, у кого нет MAX: звонок заводит диспетчер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Нет события о смене прав бота в чате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8083296" y="1463040"/>
            <a:ext cx="3547872" cy="4754880"/>
          </a:xfrm>
          <a:prstGeom prst="roundRect">
            <a:avLst>
              <a:gd name="adj" fmla="val 5155"/>
            </a:avLst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  <a:effectLst>
            <a:outerShdw sx="100000" sy="100000" kx="0" ky="0" algn="bl" rotWithShape="0" blurRad="101600" dist="38100" dir="5400000">
              <a:srgbClr val="0A1A3E">
                <a:alpha val="100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339328" y="169164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1A3E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92947" y="184525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9107424" y="1783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Риски и ответы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339328" y="2606040"/>
            <a:ext cx="306324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УК не хочет прозрачности: бенчмарк и спрос жителей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Ошибки OCR: житель подтверждает значение, долю правок меряем</a:t>
            </a:r>
            <a:endParaRPr lang="en-US" sz="1300" dirty="0"/>
          </a:p>
          <a:p>
            <a:pPr marL="203200" indent="-203200"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Персональные данные: согласие, доступ только своей УК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k1rles/papka/code/vkmax-mobilization/docs/preza/build/assets/telnyashk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34495" y="0"/>
            <a:ext cx="457200" cy="4572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4114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73267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Источники</a:t>
            </a:r>
            <a:endParaRPr lang="en-US" sz="2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63040"/>
            <a:ext cx="110642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26.01.2026 № 40; Минстрой России, 2026: взаимодействие УК с жителями через MAX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ПП РФ от 15.05.2013 № 416 в ред. от 20.06.2026: правила управления МКД, пп. 34-38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Приказ Минстроя об информационном взаимодействии через ГИС ЖКХ и MAX (publication.pravo.gov.ru)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Росстат: жилищный фонд РФ, 2024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Реформа ЖКХ (reformagkh.ru): отчёт КР 1.1 и реестр УО, выгрузка 01.09.2026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ГИС ЖКХ (dom.gosuslugi.ru): справочники НСИ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© участники OpenStreetMap, ODbL: координаты домов</a:t>
            </a:r>
            <a:endParaRPr lang="en-US" sz="14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73267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Документация MAX для разработчиков: dev.max.ru/docs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5778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B8C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Где использовался ИИ: код бэкенда и фронтенда написан с ИИ-ассистентом по планам команды, решения и проверка - за командой. В продукте - подсказка категории заявки и распознавание показаний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18585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25</a:t>
            </a:r>
            <a:endParaRPr lang="en-US" sz="1000" dirty="0"/>
          </a:p>
        </p:txBody>
      </p:sp>
      <p:pic>
        <p:nvPicPr>
          <p:cNvPr id="3" name="Image 0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1325880"/>
            <a:ext cx="4206240" cy="4206240"/>
          </a:xfrm>
          <a:prstGeom prst="rect">
            <a:avLst/>
          </a:prstGeom>
        </p:spPr>
      </p:pic>
      <p:pic>
        <p:nvPicPr>
          <p:cNvPr id="4" name="Image 1" descr="/Users/k1rles/papka/code/vkmax-mobilization/docs/preza/build/assets/zheka-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640080"/>
            <a:ext cx="1005840" cy="100584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828800" y="658368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Жэка</a:t>
            </a:r>
            <a:endParaRPr lang="en-US" sz="3200" dirty="0"/>
          </a:p>
        </p:txBody>
      </p:sp>
      <p:sp>
        <p:nvSpPr>
          <p:cNvPr id="6" name="Text 2"/>
          <p:cNvSpPr txBox="1"/>
          <p:nvPr/>
        </p:nvSpPr>
        <p:spPr>
          <a:xfrm>
            <a:off x="1828800" y="1216152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Коммуналкин</a:t>
            </a:r>
            <a:endParaRPr lang="en-US" sz="18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4688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Спасибо!</a:t>
            </a:r>
            <a:endParaRPr lang="en-US" sz="48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65760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Потекло, погасло, сломалось?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Пишите Жэке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937760"/>
            <a:ext cx="5669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max.ru/t260_hakaton_max_bot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github.com/K1rL3s/vkmax-mobilization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Manrope" pitchFamily="34" charset="0"/>
                <a:ea typeface="Manrope" pitchFamily="34" charset="-122"/>
                <a:cs typeface="Manrope" pitchFamily="34" charset="-120"/>
              </a:rPr>
              <a:t>Команда «Мобилизация»</a:t>
            </a:r>
            <a:endParaRPr lang="en-US" sz="1400" dirty="0"/>
          </a:p>
        </p:txBody>
      </p:sp>
      <p:pic>
        <p:nvPicPr>
          <p:cNvPr id="10" name="Image 2" descr="preencoded.png">
            <a:hlinkClick r:id="rId5" tooltip="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937760"/>
            <a:ext cx="2743200" cy="256032"/>
          </a:xfrm>
          <a:prstGeom prst="rect">
            <a:avLst/>
          </a:prstGeom>
        </p:spPr>
      </p:pic>
      <p:pic>
        <p:nvPicPr>
          <p:cNvPr id="11" name="Image 3" descr="preencoded.png">
            <a:hlinkClick r:id="rId7" tooltip="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5193792"/>
            <a:ext cx="3291840" cy="25603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Команда «Мобилизация»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Жэка Коммуналкин</dc:title>
  <dc:subject>PptxGenJS Presentation</dc:subject>
  <dc:creator>PptxGenJS</dc:creator>
  <cp:lastModifiedBy>PptxGenJS</cp:lastModifiedBy>
  <cp:revision>1</cp:revision>
  <dcterms:created xsi:type="dcterms:W3CDTF">2026-09-23T02:51:12Z</dcterms:created>
  <dcterms:modified xsi:type="dcterms:W3CDTF">2026-09-23T02:51:12Z</dcterms:modified>
</cp:coreProperties>
</file>