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не оценивается, но по нему жюри проверяет решение. Перед сдачей собрать с COMMIT, см. AGENTS.md. Все ссылки открыть в инкогнито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Название, слоган и состав команды с ролями: критерий «Командное владение решением» просит роли и зоны ответственности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Формула проблемы из материалов трека: пользователь, контекст, результат, барьер, последствие. Факты отделены от гипотез. CustDev на друзьях и родственниках - это проверка сценария, а не выборка, большую проверку оставляем пилоту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Организаторы просят разделять знаем, предполагаем и не знаем. Гипотезы проверяются метриками со слайда о пилоте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Скриншоты мини-приложения на мок-данных фронтенда. Сообщения бота показываем вживую в демо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Кандидат на платформенный бонус +0,15: возможность должна работать от начала до конца и быть описана в материалах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Сообщения уходят после коммита транзакции; вебхук отвечает за 30 секунд, тяжёлое уходит в taskiq. initData проверяется HMAC на токене бота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Масштабирование весит больше всех продуктовых критериев (35%). Рынок: сумма поля count_mkd реестра УО (выгрузка 1 Реформы ЖКХ от 01.09.2026), метод в docs/data.md. 50+ домов - порог из слов эксперта трека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max.ru/t260_hakaton_max_bot" TargetMode="External"/><Relationship Id="rId3" Type="http://schemas.openxmlformats.org/officeDocument/2006/relationships/hyperlink" Target="https://github.com/K1rL3s/vkmax-mobilization" TargetMode="External"/><Relationship Id="rId4" Type="http://schemas.openxmlformats.org/officeDocument/2006/relationships/hyperlink" Target="https://vkmax.k1rles.ru/api/healthcheck" TargetMode="External"/><Relationship Id="rId5" Type="http://schemas.openxmlformats.org/officeDocument/2006/relationships/hyperlink" Target="https://vkmax.k1rles.ru/api/healthcheck" TargetMode="External"/><Relationship Id="rId6" Type="http://schemas.openxmlformats.org/officeDocument/2006/relationships/hyperlink" Target="https://vkmax.k1rles.ru/api/docs" TargetMode="External"/><Relationship Id="rId8" Type="http://schemas.openxmlformats.org/officeDocument/2006/relationships/hyperlink" Target="https://max.ru/t260_hakaton_max_bot?start=demo_resident_1" TargetMode="External"/><Relationship Id="rId10" Type="http://schemas.openxmlformats.org/officeDocument/2006/relationships/hyperlink" Target="https://max.ru/t260_hakaton_max_bot?start=demo_staff_1" TargetMode="External"/><Relationship Id="rId12" Type="http://schemas.openxmlformats.org/officeDocument/2006/relationships/hyperlink" Target="https://max.ru/t260_hakaton_max_bot?start=demo_admin_1" TargetMode="External"/><Relationship Id="rId14" Type="http://schemas.openxmlformats.org/officeDocument/2006/relationships/hyperlink" Target="https://max.ru/t260_hakaton_max_bot?start=demo_executor_1" TargetMode="External"/><Relationship Id="rId1" Type="http://schemas.openxmlformats.org/officeDocument/2006/relationships/image" Target="../media/image-1-1.png"/><Relationship Id="rId7" Type="http://schemas.openxmlformats.org/officeDocument/2006/relationships/image" Target="../media/image-1-2.png"/><Relationship Id="rId9" Type="http://schemas.openxmlformats.org/officeDocument/2006/relationships/image" Target="../media/image-1-3.png"/><Relationship Id="rId11" Type="http://schemas.openxmlformats.org/officeDocument/2006/relationships/image" Target="../media/image-1-4.png"/><Relationship Id="rId13" Type="http://schemas.openxmlformats.org/officeDocument/2006/relationships/image" Target="../media/image-1-5.pn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5" Type="http://schemas.openxmlformats.org/officeDocument/2006/relationships/hyperlink" Target="https://max.ru/t260_hakaton_max_bot" TargetMode="External"/><Relationship Id="rId7" Type="http://schemas.openxmlformats.org/officeDocument/2006/relationships/hyperlink" Target="https://github.com/K1rL3s/vkmax-mobilization" TargetMode="External"/><Relationship Id="rId1" Type="http://schemas.openxmlformats.org/officeDocument/2006/relationships/image" Target="../media/Slide-26-image-1.png"/><Relationship Id="rId2" Type="http://schemas.openxmlformats.org/officeDocument/2006/relationships/image" Target="../media/image-26-2.png"/><Relationship Id="rId3" Type="http://schemas.openxmlformats.org/officeDocument/2006/relationships/image" Target="../media/image-26-2.png"/><Relationship Id="rId4" Type="http://schemas.openxmlformats.org/officeDocument/2006/relationships/image" Target="../media/image-26-4.png"/><Relationship Id="rId6" Type="http://schemas.openxmlformats.org/officeDocument/2006/relationships/image" Target="../media/image-26-5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Для технической проверки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2344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Служебный слайд: ссылки, доступы и порядок проверки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4480560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822960" y="20116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Ссылки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414016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Бот в MAX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2286000" y="2414016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u="sng" dirty="0">
                <a:solidFill>
                  <a:srgbClr val="0958DF"/>
                </a:solidFill>
                <a:latin typeface="Manrope" pitchFamily="34" charset="0"/>
                <a:ea typeface="Manrope" pitchFamily="34" charset="-122"/>
                <a:cs typeface="Manrope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max.ru/t260_hakaton_max_bot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2761488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Репозиторий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2286000" y="2761488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u="sng" dirty="0">
                <a:solidFill>
                  <a:srgbClr val="0958DF"/>
                </a:solidFill>
                <a:latin typeface="Manrope" pitchFamily="34" charset="0"/>
                <a:ea typeface="Manrope" pitchFamily="34" charset="-122"/>
                <a:cs typeface="Manrope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github.com/K1rL3s/vkmax-mobilization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822960" y="3108960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Commit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2286000" y="310896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u="sng" dirty="0">
                <a:solidFill>
                  <a:srgbClr val="0958DF"/>
                </a:solidFill>
                <a:latin typeface="Manrope" pitchFamily="34" charset="0"/>
                <a:ea typeface="Manrope" pitchFamily="34" charset="-122"/>
                <a:cs typeface="Manrope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поле commit в /api/healthcheck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822960" y="3456432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API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2286000" y="3456432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u="sng" dirty="0">
                <a:solidFill>
                  <a:srgbClr val="0958DF"/>
                </a:solidFill>
                <a:latin typeface="Manrope" pitchFamily="34" charset="0"/>
                <a:ea typeface="Manrope" pitchFamily="34" charset="-122"/>
                <a:cs typeface="Manrope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vkmax.k1rles.ru/api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822960" y="3803904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Документация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2286000" y="3803904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u="sng" dirty="0">
                <a:solidFill>
                  <a:srgbClr val="0958DF"/>
                </a:solidFill>
                <a:latin typeface="Manrope" pitchFamily="34" charset="0"/>
                <a:ea typeface="Manrope" pitchFamily="34" charset="-122"/>
                <a:cs typeface="Manrope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vkmax.k1rles.ru/api/docs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822960" y="4151376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Контракт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2286000" y="4151376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openapi.yaml, DATA-API.yaml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822960" y="4498848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Токен API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2286000" y="4498848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 DATA-API.yaml, заголовок Authorization</a:t>
            </a:r>
            <a:endParaRPr lang="en-US" sz="1250" dirty="0"/>
          </a:p>
        </p:txBody>
      </p:sp>
      <p:sp>
        <p:nvSpPr>
          <p:cNvPr id="22" name="Text 19"/>
          <p:cNvSpPr txBox="1"/>
          <p:nvPr/>
        </p:nvSpPr>
        <p:spPr>
          <a:xfrm>
            <a:off x="822960" y="4846320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API локально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2286000" y="484632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API_TEST_TOKEN=local в .env, Bearer local</a:t>
            </a:r>
            <a:endParaRPr lang="en-US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822960" y="5193792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Логины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2286000" y="5193792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не нужны, вход по аккаунту MAX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822960" y="5541264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Лицевые счета</a:t>
            </a:r>
            <a:endParaRPr lang="en-US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2286000" y="5541264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номер квартиры с нулями: 0000000012</a:t>
            </a:r>
            <a:endParaRPr lang="en-US" sz="1250" dirty="0"/>
          </a:p>
        </p:txBody>
      </p:sp>
      <p:sp>
        <p:nvSpPr>
          <p:cNvPr id="28" name="Text 25"/>
          <p:cNvSpPr txBox="1"/>
          <p:nvPr/>
        </p:nvSpPr>
        <p:spPr>
          <a:xfrm>
            <a:off x="822960" y="5888736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Окружение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2286000" y="5888736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.env.example</a:t>
            </a:r>
            <a:endParaRPr lang="en-US" sz="1250" dirty="0"/>
          </a:p>
        </p:txBody>
      </p:sp>
      <p:sp>
        <p:nvSpPr>
          <p:cNvPr id="30" name="Shape 27"/>
          <p:cNvSpPr/>
          <p:nvPr/>
        </p:nvSpPr>
        <p:spPr>
          <a:xfrm>
            <a:off x="6309360" y="1828800"/>
            <a:ext cx="5330952" cy="4480560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31" name="Text 28"/>
          <p:cNvSpPr txBox="1"/>
          <p:nvPr/>
        </p:nvSpPr>
        <p:spPr>
          <a:xfrm>
            <a:off x="658368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Демо-доступ</a:t>
            </a:r>
            <a:endParaRPr lang="en-US" sz="1600" dirty="0"/>
          </a:p>
        </p:txBody>
      </p:sp>
      <p:sp>
        <p:nvSpPr>
          <p:cNvPr id="32" name="Text 29"/>
          <p:cNvSpPr txBox="1"/>
          <p:nvPr/>
        </p:nvSpPr>
        <p:spPr>
          <a:xfrm>
            <a:off x="6583680" y="246888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Нажмите на роль: ссылка откроет бота в MAX, и он выдаст эту роль</a:t>
            </a:r>
            <a:endParaRPr lang="en-US" sz="1300" dirty="0"/>
          </a:p>
        </p:txBody>
      </p:sp>
      <p:sp>
        <p:nvSpPr>
          <p:cNvPr id="33" name="Text 30"/>
          <p:cNvSpPr txBox="1"/>
          <p:nvPr/>
        </p:nvSpPr>
        <p:spPr>
          <a:xfrm>
            <a:off x="6583680" y="3017520"/>
            <a:ext cx="1920240" cy="384048"/>
          </a:xfrm>
          <a:prstGeom prst="roundRect">
            <a:avLst>
              <a:gd name="adj" fmla="val 50000"/>
            </a:avLst>
          </a:prstGeom>
          <a:solidFill>
            <a:srgbClr val="0958D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demo_resident_1</a:t>
            </a:r>
            <a:endParaRPr lang="en-US" sz="1200" dirty="0"/>
          </a:p>
        </p:txBody>
      </p:sp>
      <p:pic>
        <p:nvPicPr>
          <p:cNvPr id="34" name="Image 1" descr="preencoded.png">
            <a:hlinkClick r:id="rId8" tooltip="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83680" y="3017520"/>
            <a:ext cx="1920240" cy="384048"/>
          </a:xfrm>
          <a:prstGeom prst="rect">
            <a:avLst/>
          </a:prstGeom>
        </p:spPr>
      </p:pic>
      <p:sp>
        <p:nvSpPr>
          <p:cNvPr id="35" name="Text 31"/>
          <p:cNvSpPr txBox="1"/>
          <p:nvPr/>
        </p:nvSpPr>
        <p:spPr>
          <a:xfrm>
            <a:off x="8641080" y="3017520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житель: своя квартира, история за 6 месяцев</a:t>
            </a:r>
            <a:endParaRPr lang="en-US" sz="1250" dirty="0"/>
          </a:p>
        </p:txBody>
      </p:sp>
      <p:sp>
        <p:nvSpPr>
          <p:cNvPr id="36" name="Text 32"/>
          <p:cNvSpPr txBox="1"/>
          <p:nvPr/>
        </p:nvSpPr>
        <p:spPr>
          <a:xfrm>
            <a:off x="6583680" y="3493008"/>
            <a:ext cx="1920240" cy="384048"/>
          </a:xfrm>
          <a:prstGeom prst="roundRect">
            <a:avLst>
              <a:gd name="adj" fmla="val 50000"/>
            </a:avLst>
          </a:prstGeom>
          <a:solidFill>
            <a:srgbClr val="0958D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demo_staff_1</a:t>
            </a:r>
            <a:endParaRPr lang="en-US" sz="1200" dirty="0"/>
          </a:p>
        </p:txBody>
      </p:sp>
      <p:pic>
        <p:nvPicPr>
          <p:cNvPr id="37" name="Image 2" descr="preencoded.png">
            <a:hlinkClick r:id="rId10" tooltip=""/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83680" y="3493008"/>
            <a:ext cx="1920240" cy="384048"/>
          </a:xfrm>
          <a:prstGeom prst="rect">
            <a:avLst/>
          </a:prstGeom>
        </p:spPr>
      </p:pic>
      <p:sp>
        <p:nvSpPr>
          <p:cNvPr id="38" name="Text 33"/>
          <p:cNvSpPr txBox="1"/>
          <p:nvPr/>
        </p:nvSpPr>
        <p:spPr>
          <a:xfrm>
            <a:off x="8641080" y="3493008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сотрудник УК: заявки, показания</a:t>
            </a:r>
            <a:endParaRPr lang="en-US" sz="1250" dirty="0"/>
          </a:p>
        </p:txBody>
      </p:sp>
      <p:sp>
        <p:nvSpPr>
          <p:cNvPr id="39" name="Text 34"/>
          <p:cNvSpPr txBox="1"/>
          <p:nvPr/>
        </p:nvSpPr>
        <p:spPr>
          <a:xfrm>
            <a:off x="6583680" y="3968496"/>
            <a:ext cx="1920240" cy="384048"/>
          </a:xfrm>
          <a:prstGeom prst="roundRect">
            <a:avLst>
              <a:gd name="adj" fmla="val 50000"/>
            </a:avLst>
          </a:prstGeom>
          <a:solidFill>
            <a:srgbClr val="0958D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demo_admin_1</a:t>
            </a:r>
            <a:endParaRPr lang="en-US" sz="1200" dirty="0"/>
          </a:p>
        </p:txBody>
      </p:sp>
      <p:pic>
        <p:nvPicPr>
          <p:cNvPr id="40" name="Image 3" descr="preencoded.png">
            <a:hlinkClick r:id="rId12" tooltip=""/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83680" y="3968496"/>
            <a:ext cx="1920240" cy="384048"/>
          </a:xfrm>
          <a:prstGeom prst="rect">
            <a:avLst/>
          </a:prstGeom>
        </p:spPr>
      </p:pic>
      <p:sp>
        <p:nvSpPr>
          <p:cNvPr id="41" name="Text 35"/>
          <p:cNvSpPr txBox="1"/>
          <p:nvPr/>
        </p:nvSpPr>
        <p:spPr>
          <a:xfrm>
            <a:off x="8641080" y="3968496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админ УК: дома, команда, аналитика</a:t>
            </a:r>
            <a:endParaRPr lang="en-US" sz="1250" dirty="0"/>
          </a:p>
        </p:txBody>
      </p:sp>
      <p:sp>
        <p:nvSpPr>
          <p:cNvPr id="42" name="Text 36"/>
          <p:cNvSpPr txBox="1"/>
          <p:nvPr/>
        </p:nvSpPr>
        <p:spPr>
          <a:xfrm>
            <a:off x="6583680" y="4443984"/>
            <a:ext cx="1920240" cy="384048"/>
          </a:xfrm>
          <a:prstGeom prst="roundRect">
            <a:avLst>
              <a:gd name="adj" fmla="val 50000"/>
            </a:avLst>
          </a:prstGeom>
          <a:solidFill>
            <a:srgbClr val="0958D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demo_executor_1</a:t>
            </a:r>
            <a:endParaRPr lang="en-US" sz="1200" dirty="0"/>
          </a:p>
        </p:txBody>
      </p:sp>
      <p:pic>
        <p:nvPicPr>
          <p:cNvPr id="43" name="Image 4" descr="preencoded.png">
            <a:hlinkClick r:id="rId14" tooltip=""/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583680" y="4443984"/>
            <a:ext cx="1920240" cy="384048"/>
          </a:xfrm>
          <a:prstGeom prst="rect">
            <a:avLst/>
          </a:prstGeom>
        </p:spPr>
      </p:pic>
      <p:sp>
        <p:nvSpPr>
          <p:cNvPr id="44" name="Text 37"/>
          <p:cNvSpPr txBox="1"/>
          <p:nvPr/>
        </p:nvSpPr>
        <p:spPr>
          <a:xfrm>
            <a:off x="8641080" y="4443984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исполнитель: заявка кнопками в боте</a:t>
            </a:r>
            <a:endParaRPr lang="en-US" sz="1250" dirty="0"/>
          </a:p>
        </p:txBody>
      </p:sp>
      <p:sp>
        <p:nvSpPr>
          <p:cNvPr id="45" name="Text 38"/>
          <p:cNvSpPr txBox="1"/>
          <p:nvPr/>
        </p:nvSpPr>
        <p:spPr>
          <a:xfrm>
            <a:off x="6583680" y="4901184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 от 1 до 4, параллельным проверяющим - разные N</a:t>
            </a:r>
            <a:endParaRPr lang="en-US" sz="1150" dirty="0"/>
          </a:p>
        </p:txBody>
      </p:sp>
      <p:sp>
        <p:nvSpPr>
          <p:cNvPr id="46" name="Text 39"/>
          <p:cNvSpPr txBox="1"/>
          <p:nvPr/>
        </p:nvSpPr>
        <p:spPr>
          <a:xfrm>
            <a:off x="6583680" y="521208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Порядок проверки</a:t>
            </a:r>
            <a:endParaRPr lang="en-US" sz="1300" dirty="0"/>
          </a:p>
        </p:txBody>
      </p:sp>
      <p:sp>
        <p:nvSpPr>
          <p:cNvPr id="47" name="Text 40"/>
          <p:cNvSpPr txBox="1"/>
          <p:nvPr/>
        </p:nvSpPr>
        <p:spPr>
          <a:xfrm>
            <a:off x="6583680" y="548640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Житель: заявка с фото, показания. Сотрудник: принять заявку, отправить на приёмку. Житель: приёмка и оценка в чате. /demo в боте - напоминания сразу. Подробно - README, «Сценарий проверки»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zheka-fad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3695" y="0"/>
            <a:ext cx="6858000" cy="6858000"/>
          </a:xfrm>
          <a:prstGeom prst="rect">
            <a:avLst/>
          </a:prstGeom>
        </p:spPr>
      </p:pic>
      <p:pic>
        <p:nvPicPr>
          <p:cNvPr id="3" name="Image 1" descr="/Users/k1rles/papka/code/vkmax-mobilization/docs/preza/build/assets/zheka-circ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640080"/>
            <a:ext cx="1005840" cy="10058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828800" y="658368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Жэка</a:t>
            </a:r>
            <a:endParaRPr lang="en-US" sz="3200" dirty="0"/>
          </a:p>
        </p:txBody>
      </p:sp>
      <p:sp>
        <p:nvSpPr>
          <p:cNvPr id="5" name="Text 1"/>
          <p:cNvSpPr txBox="1"/>
          <p:nvPr/>
        </p:nvSpPr>
        <p:spPr>
          <a:xfrm>
            <a:off x="1828800" y="121615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Коммуналкин</a:t>
            </a:r>
            <a:endParaRPr lang="en-US" sz="1800" dirty="0"/>
          </a:p>
        </p:txBody>
      </p:sp>
      <p:sp>
        <p:nvSpPr>
          <p:cNvPr id="6" name="Text 2"/>
          <p:cNvSpPr txBox="1"/>
          <p:nvPr/>
        </p:nvSpPr>
        <p:spPr>
          <a:xfrm>
            <a:off x="640080" y="2103120"/>
            <a:ext cx="5394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Потекло, погасло, сломалось? Пишите Жэке</a:t>
            </a:r>
            <a:endParaRPr lang="en-US" sz="3000" dirty="0"/>
          </a:p>
        </p:txBody>
      </p:sp>
      <p:sp>
        <p:nvSpPr>
          <p:cNvPr id="7" name="Text 3"/>
          <p:cNvSpPr txBox="1"/>
          <p:nvPr/>
        </p:nvSpPr>
        <p:spPr>
          <a:xfrm>
            <a:off x="640080" y="365760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Бот и мини-приложение в MAX для жителей многоквартирных домов и их управляющих компаний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64008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Команда «Мобилизация» · Хакатон MAX, трек «Умный город», 2026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640080" y="516636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Кирилл Лесовой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капитан, бэкенд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3246120" y="516636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Даниил Карпенко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фронтенд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640080" y="5824728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Даниил Неслуховский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аналитик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3246120" y="5824728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Артаган Мальсагов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бэкенд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3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Коротко о проекте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589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Жэка - один бот в MAX для любой УК. Житель сообщает о проблеме, видит статус и срок и сам принимает работу. Раз в месяц передаёт показания. УК получает один канал вместо звонков и инструмент под требование ПП РФ № 40 о взаимодействии с жителями, в том числе через MAX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548640" y="3246120"/>
            <a:ext cx="3474720" cy="292608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22960" y="3474720"/>
            <a:ext cx="685800" cy="6858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" y="3639312"/>
            <a:ext cx="356616" cy="35661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22960" y="42976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Жителю</a:t>
            </a:r>
            <a:endParaRPr lang="en-US" sz="1700" dirty="0"/>
          </a:p>
        </p:txBody>
      </p:sp>
      <p:sp>
        <p:nvSpPr>
          <p:cNvPr id="10" name="Text 6"/>
          <p:cNvSpPr txBox="1"/>
          <p:nvPr/>
        </p:nvSpPr>
        <p:spPr>
          <a:xfrm>
            <a:off x="822960" y="4754880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Заявка с фото, статус и срок в сообщениях бота, приёмка работы с фото «было - стало»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4297680" y="3246120"/>
            <a:ext cx="3474720" cy="292608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572000" y="3474720"/>
            <a:ext cx="685800" cy="6858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36592" y="3639312"/>
            <a:ext cx="356616" cy="356616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4572000" y="42976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УК</a:t>
            </a:r>
            <a:endParaRPr lang="en-US" sz="1700" dirty="0"/>
          </a:p>
        </p:txBody>
      </p:sp>
      <p:sp>
        <p:nvSpPr>
          <p:cNvPr id="15" name="Text 10"/>
          <p:cNvSpPr txBox="1"/>
          <p:nvPr/>
        </p:nvSpPr>
        <p:spPr>
          <a:xfrm>
            <a:off x="4572000" y="4754880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Заявки, показания, объявления в домовые чаты, исполнители и аналитика в одном кабинете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8046720" y="3246120"/>
            <a:ext cx="3474720" cy="292608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8321040" y="3474720"/>
            <a:ext cx="685800" cy="6858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3639312"/>
            <a:ext cx="356616" cy="35661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8321040" y="42976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Рынку</a:t>
            </a:r>
            <a:endParaRPr lang="en-US" sz="1700" dirty="0"/>
          </a:p>
        </p:txBody>
      </p:sp>
      <p:sp>
        <p:nvSpPr>
          <p:cNvPr id="20" name="Text 14"/>
          <p:cNvSpPr txBox="1"/>
          <p:nvPr/>
        </p:nvSpPr>
        <p:spPr>
          <a:xfrm>
            <a:off x="8321040" y="4754880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Обезличенный бенчмарк УК и счётчик спроса на дома, где УК ещё не подключена</a:t>
            </a:r>
            <a:endParaRPr lang="en-US" sz="1400" dirty="0"/>
          </a:p>
        </p:txBody>
      </p:sp>
      <p:sp>
        <p:nvSpPr>
          <p:cNvPr id="21" name="says:60204:20000"/>
          <p:cNvSpPr/>
          <p:nvPr/>
        </p:nvSpPr>
        <p:spPr>
          <a:xfrm>
            <a:off x="8138160" y="1554480"/>
            <a:ext cx="2240280" cy="914400"/>
          </a:xfrm>
          <a:prstGeom prst="wedgeRoundRectCallout">
            <a:avLst>
              <a:gd name="adj1" fmla="val 60204"/>
              <a:gd name="adj2" fmla="val 20000"/>
              <a:gd name="adj3" fmla="val 16667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8284464" y="1609344"/>
            <a:ext cx="19476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Свой человек в ЖКХ: принял, передал, проследил</a:t>
            </a:r>
            <a:endParaRPr lang="en-US" sz="1250" dirty="0"/>
          </a:p>
        </p:txBody>
      </p:sp>
      <p:pic>
        <p:nvPicPr>
          <p:cNvPr id="23" name="Image 4" descr="/Users/k1rles/papka/code/vkmax-mobilization/docs/preza/build/assets/zheka-circl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25328" y="1691640"/>
            <a:ext cx="1005840" cy="10058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4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Потекло. А кому звонить?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6766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Собственник квартиры в доме под управлением УК</a:t>
            </a:r>
            <a:pPr indent="0" marL="0">
              <a:buNone/>
            </a:pPr>
            <a:r>
              <a:rPr lang="en-US" sz="17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при бытовой проблеме (протечка, лифт, мусор) хочет, чтобы её устранили. Но он не знает, кто отвечает: УК, ресурсник или город. Ищет телефон, дозванивается и не видит ни статуса, ни сроков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063240"/>
            <a:ext cx="6583680" cy="566928"/>
          </a:xfrm>
          <a:prstGeom prst="roundRect">
            <a:avLst>
              <a:gd name="adj" fmla="val 50000"/>
            </a:avLst>
          </a:prstGeom>
          <a:solidFill>
            <a:srgbClr val="FE781A"/>
          </a:solidFill>
          <a:ln w="19050">
            <a:solidFill>
              <a:srgbClr val="0A1A3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A1A3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Проблема решается долго, доверие к УК падает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548640" y="3977640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259" y="4131259"/>
            <a:ext cx="332842" cy="33284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71600" y="3995928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Не знает, кому писать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1371600" y="43159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УК, РСО или муниципалитет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548640" y="4846320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259" y="4999939"/>
            <a:ext cx="332842" cy="332842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371600" y="4864608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Долго дозваниваться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1371600" y="51846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Диспетчерская занята, ответ устный</a:t>
            </a:r>
            <a:endParaRPr lang="en-US" sz="1350" dirty="0"/>
          </a:p>
        </p:txBody>
      </p:sp>
      <p:sp>
        <p:nvSpPr>
          <p:cNvPr id="15" name="Shape 10"/>
          <p:cNvSpPr/>
          <p:nvPr/>
        </p:nvSpPr>
        <p:spPr>
          <a:xfrm>
            <a:off x="548640" y="5715000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259" y="5868619"/>
            <a:ext cx="332842" cy="332842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371600" y="5733288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Не видит статуса</a:t>
            </a:r>
            <a:endParaRPr lang="en-US" sz="1600" dirty="0"/>
          </a:p>
        </p:txBody>
      </p:sp>
      <p:sp>
        <p:nvSpPr>
          <p:cNvPr id="18" name="Text 12"/>
          <p:cNvSpPr txBox="1"/>
          <p:nvPr/>
        </p:nvSpPr>
        <p:spPr>
          <a:xfrm>
            <a:off x="1371600" y="60533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Выполнено - это слова диспетчера</a:t>
            </a:r>
            <a:endParaRPr lang="en-US" sz="1350" dirty="0"/>
          </a:p>
        </p:txBody>
      </p:sp>
      <p:sp>
        <p:nvSpPr>
          <p:cNvPr id="19" name="Shape 13"/>
          <p:cNvSpPr/>
          <p:nvPr/>
        </p:nvSpPr>
        <p:spPr>
          <a:xfrm>
            <a:off x="7863840" y="1417320"/>
            <a:ext cx="3776472" cy="3063240"/>
          </a:xfrm>
          <a:prstGeom prst="roundRect">
            <a:avLst>
              <a:gd name="adj" fmla="val 5970"/>
            </a:avLst>
          </a:prstGeom>
          <a:solidFill>
            <a:srgbClr val="D5D9E6"/>
          </a:solidFill>
          <a:ln/>
        </p:spPr>
      </p:sp>
      <p:sp>
        <p:nvSpPr>
          <p:cNvPr id="20" name="Text 14"/>
          <p:cNvSpPr txBox="1"/>
          <p:nvPr/>
        </p:nvSpPr>
        <p:spPr>
          <a:xfrm>
            <a:off x="8138160" y="16002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Чем подтверждаем</a:t>
            </a:r>
            <a:endParaRPr lang="en-US" sz="1400" dirty="0"/>
          </a:p>
        </p:txBody>
      </p:sp>
      <p:sp>
        <p:nvSpPr>
          <p:cNvPr id="21" name="Text 15"/>
          <p:cNvSpPr txBox="1"/>
          <p:nvPr/>
        </p:nvSpPr>
        <p:spPr>
          <a:xfrm>
            <a:off x="8138160" y="2057400"/>
            <a:ext cx="329184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Эксперт трека, Минстрой Псковской области: жители не знают, зарегистрировано ли обращение и когда его рассмотрят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Там же: непонятно, кто отвечает и куда обращаться - УК, ТСЖ или муниципалитет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CustDev: опросили друзей и родственников и вместе сравнили Госуслуги Дом и Жэку. В Жэке больше функций прямо внутри MAX</a:t>
            </a:r>
            <a:endParaRPr lang="en-US" sz="1250" dirty="0"/>
          </a:p>
        </p:txBody>
      </p:sp>
      <p:sp>
        <p:nvSpPr>
          <p:cNvPr id="22" name="says:59091:20000"/>
          <p:cNvSpPr/>
          <p:nvPr/>
        </p:nvSpPr>
        <p:spPr>
          <a:xfrm>
            <a:off x="7863840" y="4892040"/>
            <a:ext cx="2514600" cy="914400"/>
          </a:xfrm>
          <a:prstGeom prst="wedgeRoundRectCallout">
            <a:avLst>
              <a:gd name="adj1" fmla="val 59091"/>
              <a:gd name="adj2" fmla="val 20000"/>
              <a:gd name="adj3" fmla="val 16667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8010144" y="4946904"/>
            <a:ext cx="222199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Сегодня статус заявки - это то, что сказали по телефону</a:t>
            </a:r>
            <a:endParaRPr lang="en-US" sz="1250" dirty="0"/>
          </a:p>
        </p:txBody>
      </p:sp>
      <p:pic>
        <p:nvPicPr>
          <p:cNvPr id="24" name="Image 4" descr="/Users/k1rles/papka/code/vkmax-mobilization/docs/preza/build/assets/zheka-circl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25328" y="5029200"/>
            <a:ext cx="1005840" cy="10058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Почему сейчас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FE781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01.09.2026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10896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УК обязаны обеспечить взаимодействие с жителями, в том числе через MAX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06908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5D9E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ПП РФ от 26.01.2026 № 40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343400" y="182880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4,2 млрд м²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4343400" y="310896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общая площадь жилищного фонда России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4343400" y="406908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5D9E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Росстат, 2024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82880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49 312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8138160" y="310896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управляющих организаций в реестре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138160" y="406908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5D9E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Реформа ЖКХ, 09.2026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349240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Требование уже действует. Предполагаем, что готового инструмента у многих УК нет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Жэка может закрыть его за УК и даёт жителю прозрачный канал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6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Что знаем и что предполагаем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3547872" cy="4754880"/>
          </a:xfrm>
          <a:prstGeom prst="roundRect">
            <a:avLst>
              <a:gd name="adj" fmla="val 5155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04672" y="1691640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8291" y="1845259"/>
            <a:ext cx="332842" cy="33284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572768" y="17830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Знаем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804672" y="2560320"/>
            <a:ext cx="30632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На обращение УК отвечает не позднее 10 рабочих дней (ПП РФ № 416, п. 36)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Эксперт трека: у УК 50+ домов и домовых чатов без модераторов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Госуслуги Дом недоступен арендатору (эксперт трека)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4315968" y="1463040"/>
            <a:ext cx="3547872" cy="4754880"/>
          </a:xfrm>
          <a:prstGeom prst="roundRect">
            <a:avLst>
              <a:gd name="adj" fmla="val 5155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72000" y="1691640"/>
            <a:ext cx="640080" cy="640080"/>
          </a:xfrm>
          <a:prstGeom prst="ellipse">
            <a:avLst/>
          </a:prstGeom>
          <a:solidFill>
            <a:srgbClr val="FE781A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5619" y="1845259"/>
            <a:ext cx="332842" cy="332842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340096" y="17830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Предполагаем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4572000" y="2560320"/>
            <a:ext cx="30632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Номер и срок сразу после подачи снижают повторные звонки в диспетчерскую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Ежемесячные показания удерживают жителя между редкими заявками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Житель подтверждает работу, если это одна кнопка в чате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УК подключится, чтобы выполнить ПП № 40 без своей разработки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Сторонний бот засчитают как канал УК в MAX по ПП № 40</a:t>
            </a:r>
            <a:endParaRPr lang="en-US" sz="1250" dirty="0"/>
          </a:p>
        </p:txBody>
      </p:sp>
      <p:sp>
        <p:nvSpPr>
          <p:cNvPr id="15" name="Shape 10"/>
          <p:cNvSpPr/>
          <p:nvPr/>
        </p:nvSpPr>
        <p:spPr>
          <a:xfrm>
            <a:off x="8083296" y="1463040"/>
            <a:ext cx="3547872" cy="4754880"/>
          </a:xfrm>
          <a:prstGeom prst="roundRect">
            <a:avLst>
              <a:gd name="adj" fmla="val 5155"/>
            </a:avLst>
          </a:prstGeom>
          <a:solidFill>
            <a:srgbClr val="F7F9FC"/>
          </a:solidFill>
          <a:ln w="12700">
            <a:solidFill>
              <a:srgbClr val="D5D9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8339328" y="1691640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92947" y="1845259"/>
            <a:ext cx="332842" cy="33284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9107424" y="17830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Проверим после запуска</a:t>
            </a:r>
            <a:endParaRPr lang="en-US" sz="1500" dirty="0"/>
          </a:p>
        </p:txBody>
      </p:sp>
      <p:sp>
        <p:nvSpPr>
          <p:cNvPr id="19" name="Text 13"/>
          <p:cNvSpPr txBox="1"/>
          <p:nvPr/>
        </p:nvSpPr>
        <p:spPr>
          <a:xfrm>
            <a:off x="8339328" y="2560320"/>
            <a:ext cx="30632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Доля жителей дома, которые уже в MAX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Время реакции первой УК до подключения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Засчитывает ли ГЖИ бот как канал УК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7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Для кого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5577840" cy="475488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22960" y="1737360"/>
            <a:ext cx="731520" cy="731520"/>
          </a:xfrm>
          <a:prstGeom prst="ellipse">
            <a:avLst/>
          </a:prstGeom>
          <a:solidFill>
            <a:srgbClr val="FE781A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525" y="1912925"/>
            <a:ext cx="380390" cy="38039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737360" y="17830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Приоритетный сегмент</a:t>
            </a:r>
            <a:endParaRPr lang="en-US" sz="1300" dirty="0"/>
          </a:p>
        </p:txBody>
      </p:sp>
      <p:sp>
        <p:nvSpPr>
          <p:cNvPr id="9" name="Text 5"/>
          <p:cNvSpPr txBox="1"/>
          <p:nvPr/>
        </p:nvSpPr>
        <p:spPr>
          <a:xfrm>
            <a:off x="1737360" y="205740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Собственник квартиры в МКД под управлением УК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822960" y="3063240"/>
            <a:ext cx="50292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Первым сталкивается с проблемой в квартире и в доме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Платит по квитанции и хочет понимать, за что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Раз в месяц передаёт показания: это превращает редкую заявку в привычку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Голосует на собраниях и хочет знать, наберётся ли кворум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6400800" y="1463040"/>
            <a:ext cx="5239512" cy="1051560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12700">
            <a:solidFill>
              <a:srgbClr val="D5D9E6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583680" y="1664208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7299" y="1817827"/>
            <a:ext cx="332842" cy="33284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7406640" y="1618488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Сотрудник УК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7406640" y="1938528"/>
            <a:ext cx="4069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Диспетчер и админ: заявки, дома, показания, объявления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6400800" y="2679192"/>
            <a:ext cx="5239512" cy="1051560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12700">
            <a:solidFill>
              <a:srgbClr val="D5D9E6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6583680" y="2880360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37299" y="3033979"/>
            <a:ext cx="332842" cy="332842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7406640" y="283464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Исполнитель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7406640" y="3154680"/>
            <a:ext cx="4069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Мастер: карточка заявки прямо в диалоге с ботом, без мини-приложения</a:t>
            </a:r>
            <a:endParaRPr lang="en-US" sz="1250" dirty="0"/>
          </a:p>
        </p:txBody>
      </p:sp>
      <p:sp>
        <p:nvSpPr>
          <p:cNvPr id="21" name="Shape 15"/>
          <p:cNvSpPr/>
          <p:nvPr/>
        </p:nvSpPr>
        <p:spPr>
          <a:xfrm>
            <a:off x="6400800" y="3895344"/>
            <a:ext cx="5239512" cy="1051560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12700">
            <a:solidFill>
              <a:srgbClr val="D5D9E6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6583680" y="4096512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37299" y="4250131"/>
            <a:ext cx="332842" cy="332842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7406640" y="4050792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Председатель совета дома</a:t>
            </a:r>
            <a:endParaRPr lang="en-US" sz="1500" dirty="0"/>
          </a:p>
        </p:txBody>
      </p:sp>
      <p:sp>
        <p:nvSpPr>
          <p:cNvPr id="25" name="Text 18"/>
          <p:cNvSpPr txBox="1"/>
          <p:nvPr/>
        </p:nvSpPr>
        <p:spPr>
          <a:xfrm>
            <a:off x="7406640" y="4370832"/>
            <a:ext cx="4069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Опросы, прогноз кворума, домовой чат</a:t>
            </a:r>
            <a:endParaRPr lang="en-US" sz="1250" dirty="0"/>
          </a:p>
        </p:txBody>
      </p:sp>
      <p:sp>
        <p:nvSpPr>
          <p:cNvPr id="26" name="Shape 19"/>
          <p:cNvSpPr/>
          <p:nvPr/>
        </p:nvSpPr>
        <p:spPr>
          <a:xfrm>
            <a:off x="6400800" y="5111496"/>
            <a:ext cx="5239512" cy="1051560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12700">
            <a:solidFill>
              <a:srgbClr val="D5D9E6"/>
            </a:solidFill>
            <a:prstDash val="solid"/>
          </a:ln>
        </p:spPr>
      </p:sp>
      <p:sp>
        <p:nvSpPr>
          <p:cNvPr id="27" name="Shape 20"/>
          <p:cNvSpPr/>
          <p:nvPr/>
        </p:nvSpPr>
        <p:spPr>
          <a:xfrm>
            <a:off x="6583680" y="5312664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2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37299" y="5466283"/>
            <a:ext cx="332842" cy="332842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7406640" y="5266944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Арендатор</a:t>
            </a:r>
            <a:endParaRPr lang="en-US" sz="1500" dirty="0"/>
          </a:p>
        </p:txBody>
      </p:sp>
      <p:sp>
        <p:nvSpPr>
          <p:cNvPr id="30" name="Text 22"/>
          <p:cNvSpPr txBox="1"/>
          <p:nvPr/>
        </p:nvSpPr>
        <p:spPr>
          <a:xfrm>
            <a:off x="7406640" y="5586984"/>
            <a:ext cx="4069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Входит по ссылке-приглашению собственника, без начислений и голосов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8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Было и стало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167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749040"/>
                <a:gridCol w="4599432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Задача жителя</a:t>
                      </a:r>
                      <a:endParaRPr lang="en-US" sz="14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6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Сейчас</a:t>
                      </a:r>
                      <a:endParaRPr lang="en-US" sz="14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6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С Жэкой</a:t>
                      </a:r>
                      <a:endParaRPr lang="en-US" sz="14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58D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Узнать, кто отвечает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Искать в квитанции и на доске у подъезда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Бот показывает УК дома, если она известна по реестру. Дом находится по адресу, геопозиции или QR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Сообщить о проблеме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Дозвон в диспетчерскую, устно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Заявка с фото и категорией, сразу номер и срок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Узнать статус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Перезванивать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Бот пишет при каждой смене статуса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Подтвердить работу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Диспетчер отмечает «выполнено»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Житель принимает работу по фото и может подать повторную заявку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Передать показания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Бумажка в ящике или сайт УК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Фото и число со счётчика, расход, сравнение с домом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Понять квитанцию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Звонок диспетчеру, который не знает ответа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Разбор суммы: объём или тариф, построчно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9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Чем закрывают задачу сейчас</a:t>
            </a:r>
            <a:endParaRPr lang="en-US" sz="2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3044952"/>
                <a:gridCol w="1609344"/>
                <a:gridCol w="1609344"/>
                <a:gridCol w="1609344"/>
                <a:gridCol w="1609344"/>
                <a:gridCol w="1609344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Телефон диспетчерской</a:t>
                      </a:r>
                      <a:endParaRPr lang="en-US" sz="12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6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Домовой чат</a:t>
                      </a:r>
                      <a:endParaRPr lang="en-US" sz="12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6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Сайт или приложение УК</a:t>
                      </a:r>
                      <a:endParaRPr lang="en-US" sz="12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6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Госуслуги Дом</a:t>
                      </a:r>
                      <a:endParaRPr lang="en-US" sz="12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6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Жэка</a:t>
                      </a:r>
                      <a:endParaRPr lang="en-US" sz="12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58D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Видно, кто отвечает за дом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частично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да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да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958DF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да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Статус и срок заявки видны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частично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частично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958DF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да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Работу подтверждает житель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958DF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да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Показания без визита и звонка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частично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да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958DF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да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Один вход для любой УК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да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частично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Доступно арендатору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да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частично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частично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958DF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да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Кабинет УК с исполнителями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частично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958DF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да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53492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Госуслуги Дом - канал собственника в ГИС ЖКХ. Жэка закрывает то, чего там нет: арендатор, приёмка работы жителем, кабинет УК с исполнителями</a:t>
            </a:r>
            <a:endParaRPr lang="en-US" sz="14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59436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Оценки - по открытым описаниям сервисов, словам экспертов трека с вебинаров хакатона и сравнению с друзьями и родственниками. У Жэки заявки доходят только до подключенных УК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10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Основной сценарий жителя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48640" y="1828800"/>
            <a:ext cx="2057400" cy="28346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77240" y="205740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248" y="2215408"/>
            <a:ext cx="342351" cy="342351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011680" y="210312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5D9E6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2852928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Открыл бота</a:t>
            </a:r>
            <a:endParaRPr lang="en-US" sz="155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3246120"/>
            <a:ext cx="1691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По QR у лифта, из домового чата или по ссылке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2642616" y="3246120"/>
            <a:ext cx="128016" cy="0"/>
          </a:xfrm>
          <a:prstGeom prst="line">
            <a:avLst/>
          </a:prstGeom>
          <a:noFill/>
          <a:ln w="19050">
            <a:solidFill>
              <a:srgbClr val="173267"/>
            </a:solidFill>
            <a:prstDash val="solid"/>
            <a:tailEnd type="triangle"/>
          </a:ln>
        </p:spPr>
      </p:sp>
      <p:sp>
        <p:nvSpPr>
          <p:cNvPr id="12" name="Shape 8"/>
          <p:cNvSpPr/>
          <p:nvPr/>
        </p:nvSpPr>
        <p:spPr>
          <a:xfrm>
            <a:off x="2807208" y="1828800"/>
            <a:ext cx="2057400" cy="28346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3035808" y="205740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93816" y="2215408"/>
            <a:ext cx="342351" cy="342351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270248" y="210312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5D9E6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2</a:t>
            </a:r>
            <a:endParaRPr lang="en-US" sz="2000" dirty="0"/>
          </a:p>
        </p:txBody>
      </p:sp>
      <p:sp>
        <p:nvSpPr>
          <p:cNvPr id="16" name="Text 11"/>
          <p:cNvSpPr txBox="1"/>
          <p:nvPr/>
        </p:nvSpPr>
        <p:spPr>
          <a:xfrm>
            <a:off x="3035808" y="2852928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Нашёл дом</a:t>
            </a:r>
            <a:endParaRPr lang="en-US" sz="1550" dirty="0"/>
          </a:p>
        </p:txBody>
      </p:sp>
      <p:sp>
        <p:nvSpPr>
          <p:cNvPr id="17" name="Text 12"/>
          <p:cNvSpPr txBox="1"/>
          <p:nvPr/>
        </p:nvSpPr>
        <p:spPr>
          <a:xfrm>
            <a:off x="3035808" y="3246120"/>
            <a:ext cx="1691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Город, улица, дом или геопозиция. Согласие на ПД до выбора дома</a:t>
            </a:r>
            <a:endParaRPr lang="en-US" sz="1250" dirty="0"/>
          </a:p>
        </p:txBody>
      </p:sp>
      <p:sp>
        <p:nvSpPr>
          <p:cNvPr id="18" name="Shape 13"/>
          <p:cNvSpPr/>
          <p:nvPr/>
        </p:nvSpPr>
        <p:spPr>
          <a:xfrm>
            <a:off x="4901184" y="3246120"/>
            <a:ext cx="128016" cy="0"/>
          </a:xfrm>
          <a:prstGeom prst="line">
            <a:avLst/>
          </a:prstGeom>
          <a:noFill/>
          <a:ln w="19050">
            <a:solidFill>
              <a:srgbClr val="173267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5065776" y="1828800"/>
            <a:ext cx="2057400" cy="28346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5294376" y="2057400"/>
            <a:ext cx="658368" cy="658368"/>
          </a:xfrm>
          <a:prstGeom prst="ellipse">
            <a:avLst/>
          </a:prstGeom>
          <a:solidFill>
            <a:srgbClr val="FE781A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52384" y="2215408"/>
            <a:ext cx="342351" cy="342351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6528816" y="210312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5D9E6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3</a:t>
            </a:r>
            <a:endParaRPr lang="en-US" sz="2000" dirty="0"/>
          </a:p>
        </p:txBody>
      </p:sp>
      <p:sp>
        <p:nvSpPr>
          <p:cNvPr id="23" name="Text 17"/>
          <p:cNvSpPr txBox="1"/>
          <p:nvPr/>
        </p:nvSpPr>
        <p:spPr>
          <a:xfrm>
            <a:off x="5294376" y="2852928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Оставил заявку</a:t>
            </a:r>
            <a:endParaRPr lang="en-US" sz="1550" dirty="0"/>
          </a:p>
        </p:txBody>
      </p:sp>
      <p:sp>
        <p:nvSpPr>
          <p:cNvPr id="24" name="Text 18"/>
          <p:cNvSpPr txBox="1"/>
          <p:nvPr/>
        </p:nvSpPr>
        <p:spPr>
          <a:xfrm>
            <a:off x="5294376" y="3246120"/>
            <a:ext cx="1691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Описание, категория, место, фото. Сразу номер и срок по норме</a:t>
            </a:r>
            <a:endParaRPr lang="en-US" sz="1250" dirty="0"/>
          </a:p>
        </p:txBody>
      </p:sp>
      <p:sp>
        <p:nvSpPr>
          <p:cNvPr id="25" name="Shape 19"/>
          <p:cNvSpPr/>
          <p:nvPr/>
        </p:nvSpPr>
        <p:spPr>
          <a:xfrm>
            <a:off x="7159752" y="3246120"/>
            <a:ext cx="128016" cy="0"/>
          </a:xfrm>
          <a:prstGeom prst="line">
            <a:avLst/>
          </a:prstGeom>
          <a:noFill/>
          <a:ln w="19050">
            <a:solidFill>
              <a:srgbClr val="173267"/>
            </a:solidFill>
            <a:prstDash val="solid"/>
            <a:tailEnd type="triangle"/>
          </a:ln>
        </p:spPr>
      </p:sp>
      <p:sp>
        <p:nvSpPr>
          <p:cNvPr id="26" name="Shape 20"/>
          <p:cNvSpPr/>
          <p:nvPr/>
        </p:nvSpPr>
        <p:spPr>
          <a:xfrm>
            <a:off x="7324344" y="1828800"/>
            <a:ext cx="2057400" cy="28346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27" name="Shape 21"/>
          <p:cNvSpPr/>
          <p:nvPr/>
        </p:nvSpPr>
        <p:spPr>
          <a:xfrm>
            <a:off x="7552944" y="205740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10952" y="2215408"/>
            <a:ext cx="342351" cy="342351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8787384" y="210312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5D9E6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4</a:t>
            </a:r>
            <a:endParaRPr lang="en-US" sz="2000" dirty="0"/>
          </a:p>
        </p:txBody>
      </p:sp>
      <p:sp>
        <p:nvSpPr>
          <p:cNvPr id="30" name="Text 23"/>
          <p:cNvSpPr txBox="1"/>
          <p:nvPr/>
        </p:nvSpPr>
        <p:spPr>
          <a:xfrm>
            <a:off x="7552944" y="2852928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Видит статус</a:t>
            </a:r>
            <a:endParaRPr lang="en-US" sz="1550" dirty="0"/>
          </a:p>
        </p:txBody>
      </p:sp>
      <p:sp>
        <p:nvSpPr>
          <p:cNvPr id="31" name="Text 24"/>
          <p:cNvSpPr txBox="1"/>
          <p:nvPr/>
        </p:nvSpPr>
        <p:spPr>
          <a:xfrm>
            <a:off x="7552944" y="3246120"/>
            <a:ext cx="1691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Номер, срок, сообщение при каждой смене статуса</a:t>
            </a:r>
            <a:endParaRPr lang="en-US" sz="1250" dirty="0"/>
          </a:p>
        </p:txBody>
      </p:sp>
      <p:sp>
        <p:nvSpPr>
          <p:cNvPr id="32" name="Shape 25"/>
          <p:cNvSpPr/>
          <p:nvPr/>
        </p:nvSpPr>
        <p:spPr>
          <a:xfrm>
            <a:off x="9418320" y="3246120"/>
            <a:ext cx="128016" cy="0"/>
          </a:xfrm>
          <a:prstGeom prst="line">
            <a:avLst/>
          </a:prstGeom>
          <a:noFill/>
          <a:ln w="19050">
            <a:solidFill>
              <a:srgbClr val="173267"/>
            </a:solidFill>
            <a:prstDash val="solid"/>
            <a:tailEnd type="triangle"/>
          </a:ln>
        </p:spPr>
      </p:sp>
      <p:sp>
        <p:nvSpPr>
          <p:cNvPr id="33" name="Shape 26"/>
          <p:cNvSpPr/>
          <p:nvPr/>
        </p:nvSpPr>
        <p:spPr>
          <a:xfrm>
            <a:off x="9582912" y="1828800"/>
            <a:ext cx="2057400" cy="28346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34" name="Shape 27"/>
          <p:cNvSpPr/>
          <p:nvPr/>
        </p:nvSpPr>
        <p:spPr>
          <a:xfrm>
            <a:off x="9811512" y="205740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3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69520" y="2215408"/>
            <a:ext cx="342351" cy="342351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11045952" y="210312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5D9E6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5</a:t>
            </a:r>
            <a:endParaRPr lang="en-US" sz="2000" dirty="0"/>
          </a:p>
        </p:txBody>
      </p:sp>
      <p:sp>
        <p:nvSpPr>
          <p:cNvPr id="37" name="Text 29"/>
          <p:cNvSpPr txBox="1"/>
          <p:nvPr/>
        </p:nvSpPr>
        <p:spPr>
          <a:xfrm>
            <a:off x="9811512" y="2852928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Принял работу</a:t>
            </a:r>
            <a:endParaRPr lang="en-US" sz="1550" dirty="0"/>
          </a:p>
        </p:txBody>
      </p:sp>
      <p:sp>
        <p:nvSpPr>
          <p:cNvPr id="38" name="Text 30"/>
          <p:cNvSpPr txBox="1"/>
          <p:nvPr/>
        </p:nvSpPr>
        <p:spPr>
          <a:xfrm>
            <a:off x="9811512" y="3246120"/>
            <a:ext cx="1691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Фото «было - стало», оценка или повторная заявка</a:t>
            </a:r>
            <a:endParaRPr lang="en-US" sz="1250" dirty="0"/>
          </a:p>
        </p:txBody>
      </p:sp>
      <p:sp>
        <p:nvSpPr>
          <p:cNvPr id="39" name="says:-54386:20000"/>
          <p:cNvSpPr/>
          <p:nvPr/>
        </p:nvSpPr>
        <p:spPr>
          <a:xfrm>
            <a:off x="1801368" y="4983480"/>
            <a:ext cx="5212080" cy="868680"/>
          </a:xfrm>
          <a:prstGeom prst="wedgeRoundRectCallout">
            <a:avLst>
              <a:gd name="adj1" fmla="val -54386"/>
              <a:gd name="adj2" fmla="val 20000"/>
              <a:gd name="adj3" fmla="val 16667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sp>
        <p:nvSpPr>
          <p:cNvPr id="40" name="Text 32"/>
          <p:cNvSpPr txBox="1"/>
          <p:nvPr/>
        </p:nvSpPr>
        <p:spPr>
          <a:xfrm>
            <a:off x="1947672" y="5038344"/>
            <a:ext cx="4919472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Заявка № 1542 «Протечка»: локализовать аварию до 09:42, устранить за 3 суток. Кнопка откроет заявку</a:t>
            </a:r>
            <a:endParaRPr lang="en-US" sz="1300" dirty="0"/>
          </a:p>
        </p:txBody>
      </p:sp>
      <p:pic>
        <p:nvPicPr>
          <p:cNvPr id="41" name="Image 6" descr="/Users/k1rles/papka/code/vkmax-mobilization/docs/preza/build/assets/zheka-circl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5088636"/>
            <a:ext cx="1005840" cy="1005840"/>
          </a:xfrm>
          <a:prstGeom prst="rect">
            <a:avLst/>
          </a:prstGeom>
        </p:spPr>
      </p:pic>
      <p:sp>
        <p:nvSpPr>
          <p:cNvPr id="42" name="Text 33"/>
          <p:cNvSpPr txBox="1"/>
          <p:nvPr/>
        </p:nvSpPr>
        <p:spPr>
          <a:xfrm>
            <a:off x="7406640" y="5120640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Бот ведёт короткие диалоги, статусы и уведомления, мини-приложение отвечает за формы, списки и историю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11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Две опоры продукта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48640" y="1508760"/>
            <a:ext cx="5394960" cy="4709160"/>
          </a:xfrm>
          <a:prstGeom prst="roundRect">
            <a:avLst>
              <a:gd name="adj" fmla="val 3883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22960" y="1783080"/>
            <a:ext cx="685800" cy="6858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" y="1947672"/>
            <a:ext cx="356616" cy="35661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91640" y="190195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Заявки: редко, но больно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822960" y="2697480"/>
            <a:ext cx="4892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Редкое, но самое болезненное событие</a:t>
            </a:r>
            <a:endParaRPr lang="en-US" sz="14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Полный цикл: подача, работа, исполнитель, приёмка жителем, оценка</a:t>
            </a:r>
            <a:endParaRPr lang="en-US" sz="14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Приводит жителя в бота, но удержать его одними заявками нельзя</a:t>
            </a:r>
            <a:endParaRPr lang="en-US" sz="1450" dirty="0"/>
          </a:p>
        </p:txBody>
      </p:sp>
      <p:sp>
        <p:nvSpPr>
          <p:cNvPr id="10" name="Shape 6"/>
          <p:cNvSpPr/>
          <p:nvPr/>
        </p:nvSpPr>
        <p:spPr>
          <a:xfrm>
            <a:off x="822960" y="4206240"/>
            <a:ext cx="4846320" cy="1783080"/>
          </a:xfrm>
          <a:prstGeom prst="roundRect">
            <a:avLst>
              <a:gd name="adj" fmla="val 7179"/>
            </a:avLst>
          </a:prstGeom>
          <a:solidFill>
            <a:srgbClr val="F7F9FC"/>
          </a:solidFill>
          <a:ln w="12700">
            <a:solidFill>
              <a:srgbClr val="D5D9E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069848" y="4343400"/>
            <a:ext cx="4480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№ 1542 «Протечка», срок 3 суток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09:12  подана с фото, принята через 28 минут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15:30  на приёмке, житель принял работу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Ход заявки: каждый шаг - сообщение в MAX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6245352" y="1508760"/>
            <a:ext cx="5394960" cy="4709160"/>
          </a:xfrm>
          <a:prstGeom prst="roundRect">
            <a:avLst>
              <a:gd name="adj" fmla="val 3883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6519672" y="1783080"/>
            <a:ext cx="685800" cy="685800"/>
          </a:xfrm>
          <a:prstGeom prst="ellipse">
            <a:avLst/>
          </a:prstGeom>
          <a:solidFill>
            <a:srgbClr val="FE781A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1947672"/>
            <a:ext cx="356616" cy="35661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7388352" y="190195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Счётчики: каждый месяц</a:t>
            </a:r>
            <a:endParaRPr lang="en-US" sz="1600" dirty="0"/>
          </a:p>
        </p:txBody>
      </p:sp>
      <p:sp>
        <p:nvSpPr>
          <p:cNvPr id="16" name="Text 11"/>
          <p:cNvSpPr txBox="1"/>
          <p:nvPr/>
        </p:nvSpPr>
        <p:spPr>
          <a:xfrm>
            <a:off x="6519672" y="2697480"/>
            <a:ext cx="4892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Фото и число со счётчика, проверка на скачок</a:t>
            </a:r>
            <a:endParaRPr lang="en-US" sz="14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Расход и сравнение со средним по дому</a:t>
            </a:r>
            <a:endParaRPr lang="en-US" sz="14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Напоминания в окно подачи и перед поверкой</a:t>
            </a:r>
            <a:endParaRPr lang="en-US" sz="1450" dirty="0"/>
          </a:p>
        </p:txBody>
      </p:sp>
      <p:sp>
        <p:nvSpPr>
          <p:cNvPr id="17" name="Shape 12"/>
          <p:cNvSpPr/>
          <p:nvPr/>
        </p:nvSpPr>
        <p:spPr>
          <a:xfrm>
            <a:off x="6519672" y="4206240"/>
            <a:ext cx="4846320" cy="1783080"/>
          </a:xfrm>
          <a:prstGeom prst="roundRect">
            <a:avLst>
              <a:gd name="adj" fmla="val 7179"/>
            </a:avLst>
          </a:prstGeom>
          <a:solidFill>
            <a:srgbClr val="F7F9FC"/>
          </a:solidFill>
          <a:ln w="12700">
            <a:solidFill>
              <a:srgbClr val="D5D9E6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6766560" y="4343400"/>
            <a:ext cx="4480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Сумма выросла: тариф или расход?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ГВС: тариф с 285,00 до 319,00 ₽ за м³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Содержание: 35,00 ₽ за м², без изменений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Разбор квитанции на тарифах демо-домов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12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Чего нет в обычном боте заявок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48640" y="1508760"/>
            <a:ext cx="3547872" cy="2148840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04672" y="1764792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8291" y="1918411"/>
            <a:ext cx="332842" cy="33284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572768" y="178308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Склейка коллективных заявок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804672" y="256032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«7 соседей уже сообщили»: одна группа на стояк вместо дублей от каждой квартиры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4315968" y="1508760"/>
            <a:ext cx="3547872" cy="2148840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72000" y="1764792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5619" y="1918411"/>
            <a:ext cx="332842" cy="332842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340096" y="178308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Исполнитель и приёмка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4572000" y="256032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Мастер жмёт «выехал - готово» и присылает фото, «выполнено» подтверждает житель</a:t>
            </a:r>
            <a:endParaRPr lang="en-US" sz="1300" dirty="0"/>
          </a:p>
        </p:txBody>
      </p:sp>
      <p:sp>
        <p:nvSpPr>
          <p:cNvPr id="15" name="Shape 10"/>
          <p:cNvSpPr/>
          <p:nvPr/>
        </p:nvSpPr>
        <p:spPr>
          <a:xfrm>
            <a:off x="8083296" y="1508760"/>
            <a:ext cx="3547872" cy="2148840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8339328" y="1764792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92947" y="1918411"/>
            <a:ext cx="332842" cy="33284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9107424" y="178308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Разбор квитанции</a:t>
            </a:r>
            <a:endParaRPr lang="en-US" sz="1500" dirty="0"/>
          </a:p>
        </p:txBody>
      </p:sp>
      <p:sp>
        <p:nvSpPr>
          <p:cNvPr id="19" name="Text 13"/>
          <p:cNvSpPr txBox="1"/>
          <p:nvPr/>
        </p:nvSpPr>
        <p:spPr>
          <a:xfrm>
            <a:off x="8339328" y="256032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Рост суммы раскладывается на объём и тариф, спор уходит заявкой с расчётом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548640" y="3886200"/>
            <a:ext cx="3547872" cy="2148840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804672" y="4142232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8291" y="4295851"/>
            <a:ext cx="332842" cy="332842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572768" y="416052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Прогноз кворума по площади</a:t>
            </a:r>
            <a:endParaRPr lang="en-US" sz="1500" dirty="0"/>
          </a:p>
        </p:txBody>
      </p:sp>
      <p:sp>
        <p:nvSpPr>
          <p:cNvPr id="24" name="Text 17"/>
          <p:cNvSpPr txBox="1"/>
          <p:nvPr/>
        </p:nvSpPr>
        <p:spPr>
          <a:xfrm>
            <a:off x="804672" y="493776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«47 квартир - 38% площади»: председатель видит, прошло бы собрание</a:t>
            </a:r>
            <a:endParaRPr lang="en-US" sz="1300" dirty="0"/>
          </a:p>
        </p:txBody>
      </p:sp>
      <p:sp>
        <p:nvSpPr>
          <p:cNvPr id="25" name="Shape 18"/>
          <p:cNvSpPr/>
          <p:nvPr/>
        </p:nvSpPr>
        <p:spPr>
          <a:xfrm>
            <a:off x="4315968" y="3886200"/>
            <a:ext cx="3547872" cy="2148840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26" name="Shape 19"/>
          <p:cNvSpPr/>
          <p:nvPr/>
        </p:nvSpPr>
        <p:spPr>
          <a:xfrm>
            <a:off x="4572000" y="4142232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25619" y="4295851"/>
            <a:ext cx="332842" cy="332842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5340096" y="416052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QR на подъезде</a:t>
            </a:r>
            <a:endParaRPr lang="en-US" sz="1500" dirty="0"/>
          </a:p>
        </p:txBody>
      </p:sp>
      <p:sp>
        <p:nvSpPr>
          <p:cNvPr id="29" name="Text 21"/>
          <p:cNvSpPr txBox="1"/>
          <p:nvPr/>
        </p:nvSpPr>
        <p:spPr>
          <a:xfrm>
            <a:off x="4572000" y="493776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Дом уже выбран, остаются согласие и номер квартиры</a:t>
            </a:r>
            <a:endParaRPr lang="en-US" sz="1300" dirty="0"/>
          </a:p>
        </p:txBody>
      </p:sp>
      <p:sp>
        <p:nvSpPr>
          <p:cNvPr id="30" name="Shape 22"/>
          <p:cNvSpPr/>
          <p:nvPr/>
        </p:nvSpPr>
        <p:spPr>
          <a:xfrm>
            <a:off x="8083296" y="3886200"/>
            <a:ext cx="3547872" cy="2148840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31" name="Shape 23"/>
          <p:cNvSpPr/>
          <p:nvPr/>
        </p:nvSpPr>
        <p:spPr>
          <a:xfrm>
            <a:off x="8339328" y="4142232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3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92947" y="4295851"/>
            <a:ext cx="332842" cy="332842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9107424" y="416052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Заявка по звонку</a:t>
            </a:r>
            <a:endParaRPr lang="en-US" sz="1500" dirty="0"/>
          </a:p>
        </p:txBody>
      </p:sp>
      <p:sp>
        <p:nvSpPr>
          <p:cNvPr id="34" name="Text 25"/>
          <p:cNvSpPr txBox="1"/>
          <p:nvPr/>
        </p:nvSpPr>
        <p:spPr>
          <a:xfrm>
            <a:off x="8339328" y="493776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Звонок диспетчеру попадает в тот же прозрачный конвейер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13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Что мы считаем уникальным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48640" y="1508760"/>
            <a:ext cx="3547872" cy="2148840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04672" y="1764792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8291" y="1918411"/>
            <a:ext cx="332842" cy="33284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572768" y="178308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Окна доступа в квартиры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804672" y="256032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Замена стояка: жители сами выбирают время, УК видит «ответили 9 из 14»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4315968" y="1508760"/>
            <a:ext cx="3547872" cy="2148840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72000" y="1764792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5619" y="1918411"/>
            <a:ext cx="332842" cy="332842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340096" y="178308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Реестр уведомлений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4572000" y="256032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«Доставлено квартирам 42 из 57» и лист A4 с квартирами для бумажного уведомления</a:t>
            </a:r>
            <a:endParaRPr lang="en-US" sz="1300" dirty="0"/>
          </a:p>
        </p:txBody>
      </p:sp>
      <p:sp>
        <p:nvSpPr>
          <p:cNvPr id="15" name="Shape 10"/>
          <p:cNvSpPr/>
          <p:nvPr/>
        </p:nvSpPr>
        <p:spPr>
          <a:xfrm>
            <a:off x="8083296" y="1508760"/>
            <a:ext cx="3547872" cy="2148840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8339328" y="1764792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92947" y="1918411"/>
            <a:ext cx="332842" cy="33284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9107424" y="178308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«Мне нужен» на доме без УК</a:t>
            </a:r>
            <a:endParaRPr lang="en-US" sz="1500" dirty="0"/>
          </a:p>
        </p:txBody>
      </p:sp>
      <p:sp>
        <p:nvSpPr>
          <p:cNvPr id="19" name="Text 13"/>
          <p:cNvSpPr txBox="1"/>
          <p:nvPr/>
        </p:nvSpPr>
        <p:spPr>
          <a:xfrm>
            <a:off x="8339328" y="256032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Жители зовут свою УК, а УК видит дома, где сервиса уже ждут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548640" y="3886200"/>
            <a:ext cx="3547872" cy="2148840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804672" y="4142232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8291" y="4295851"/>
            <a:ext cx="332842" cy="332842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572768" y="416052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Список закрепов в чате</a:t>
            </a:r>
            <a:endParaRPr lang="en-US" sz="1500" dirty="0"/>
          </a:p>
        </p:txBody>
      </p:sp>
      <p:sp>
        <p:nvSpPr>
          <p:cNvPr id="24" name="Text 17"/>
          <p:cNvSpPr txBox="1"/>
          <p:nvPr/>
        </p:nvSpPr>
        <p:spPr>
          <a:xfrm>
            <a:off x="804672" y="493776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MAX закрепляет одно сообщение, бот ведёт нумерованный список: /pin, /unpin, /repin</a:t>
            </a:r>
            <a:endParaRPr lang="en-US" sz="1300" dirty="0"/>
          </a:p>
        </p:txBody>
      </p:sp>
      <p:sp>
        <p:nvSpPr>
          <p:cNvPr id="25" name="Shape 18"/>
          <p:cNvSpPr/>
          <p:nvPr/>
        </p:nvSpPr>
        <p:spPr>
          <a:xfrm>
            <a:off x="4315968" y="3886200"/>
            <a:ext cx="3547872" cy="2148840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26" name="Shape 19"/>
          <p:cNvSpPr/>
          <p:nvPr/>
        </p:nvSpPr>
        <p:spPr>
          <a:xfrm>
            <a:off x="4572000" y="4142232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25619" y="4295851"/>
            <a:ext cx="332842" cy="332842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5340096" y="416052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Вопрос по строке квитанции</a:t>
            </a:r>
            <a:endParaRPr lang="en-US" sz="1500" dirty="0"/>
          </a:p>
        </p:txBody>
      </p:sp>
      <p:sp>
        <p:nvSpPr>
          <p:cNvPr id="29" name="Text 21"/>
          <p:cNvSpPr txBox="1"/>
          <p:nvPr/>
        </p:nvSpPr>
        <p:spPr>
          <a:xfrm>
            <a:off x="4572000" y="493776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Житель спрашивает про одну строку, УК получает заявку с услугой, суммой и расчётом</a:t>
            </a:r>
            <a:endParaRPr lang="en-US" sz="1300" dirty="0"/>
          </a:p>
        </p:txBody>
      </p:sp>
      <p:sp>
        <p:nvSpPr>
          <p:cNvPr id="30" name="Shape 22"/>
          <p:cNvSpPr/>
          <p:nvPr/>
        </p:nvSpPr>
        <p:spPr>
          <a:xfrm>
            <a:off x="8083296" y="3886200"/>
            <a:ext cx="3547872" cy="2148840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31" name="Shape 23"/>
          <p:cNvSpPr/>
          <p:nvPr/>
        </p:nvSpPr>
        <p:spPr>
          <a:xfrm>
            <a:off x="8339328" y="4142232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3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92947" y="4295851"/>
            <a:ext cx="332842" cy="332842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9107424" y="416052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Недельная сводка дома</a:t>
            </a:r>
            <a:endParaRPr lang="en-US" sz="1500" dirty="0"/>
          </a:p>
        </p:txBody>
      </p:sp>
      <p:sp>
        <p:nvSpPr>
          <p:cNvPr id="34" name="Text 25"/>
          <p:cNvSpPr txBox="1"/>
          <p:nvPr/>
        </p:nvSpPr>
        <p:spPr>
          <a:xfrm>
            <a:off x="8339328" y="493776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По воскресеньям: заявки, объявления, опросы и окно показаний в одном сообщении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14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Как это выглядит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5669280" y="73152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Фрагменты экранов мини-приложения на модельных данных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1371600"/>
            <a:ext cx="3004798" cy="4343400"/>
          </a:xfrm>
          <a:prstGeom prst="roundRect">
            <a:avLst>
              <a:gd name="adj" fmla="val 6695"/>
            </a:avLst>
          </a:prstGeom>
          <a:solidFill>
            <a:srgbClr val="0A1A3E"/>
          </a:solidFill>
          <a:ln w="1270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548AB">
                <a:alpha val="100000"/>
              </a:srgbClr>
            </a:outerShdw>
          </a:effectLst>
        </p:spPr>
      </p:sp>
      <p:pic>
        <p:nvPicPr>
          <p:cNvPr id="7" name="Image 1" descr="/Users/k1rles/papka/code/vkmax-mobilization/docs/preza/screens/02-new-reque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63040"/>
            <a:ext cx="2821918" cy="41605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365760" y="5833872"/>
            <a:ext cx="33705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Новая заявка: кто отвечает, срок по норме, соседи уже сообщили</a:t>
            </a:r>
            <a:endParaRPr lang="en-US" sz="1250" dirty="0"/>
          </a:p>
        </p:txBody>
      </p:sp>
      <p:sp>
        <p:nvSpPr>
          <p:cNvPr id="9" name="Shape 5"/>
          <p:cNvSpPr/>
          <p:nvPr/>
        </p:nvSpPr>
        <p:spPr>
          <a:xfrm>
            <a:off x="4592077" y="1371600"/>
            <a:ext cx="3004798" cy="4343400"/>
          </a:xfrm>
          <a:prstGeom prst="roundRect">
            <a:avLst>
              <a:gd name="adj" fmla="val 6695"/>
            </a:avLst>
          </a:prstGeom>
          <a:solidFill>
            <a:srgbClr val="0A1A3E"/>
          </a:solidFill>
          <a:ln w="1270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548AB">
                <a:alpha val="100000"/>
              </a:srgbClr>
            </a:outerShdw>
          </a:effectLst>
        </p:spPr>
      </p:sp>
      <p:pic>
        <p:nvPicPr>
          <p:cNvPr id="10" name="Image 2" descr="/Users/k1rles/papka/code/vkmax-mobilization/docs/preza/screens/03-reques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3517" y="1463040"/>
            <a:ext cx="2821918" cy="41605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4409197" y="5833872"/>
            <a:ext cx="33705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Карточка заявки: статус, срок с основанием, исполнитель</a:t>
            </a:r>
            <a:endParaRPr lang="en-US" sz="1250" dirty="0"/>
          </a:p>
        </p:txBody>
      </p:sp>
      <p:sp>
        <p:nvSpPr>
          <p:cNvPr id="12" name="Shape 7"/>
          <p:cNvSpPr/>
          <p:nvPr/>
        </p:nvSpPr>
        <p:spPr>
          <a:xfrm>
            <a:off x="8635514" y="1371600"/>
            <a:ext cx="3004798" cy="4343400"/>
          </a:xfrm>
          <a:prstGeom prst="roundRect">
            <a:avLst>
              <a:gd name="adj" fmla="val 6695"/>
            </a:avLst>
          </a:prstGeom>
          <a:solidFill>
            <a:srgbClr val="0A1A3E"/>
          </a:solidFill>
          <a:ln w="1270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548AB">
                <a:alpha val="100000"/>
              </a:srgbClr>
            </a:outerShdw>
          </a:effectLst>
        </p:spPr>
      </p:sp>
      <p:pic>
        <p:nvPicPr>
          <p:cNvPr id="13" name="Image 3" descr="/Users/k1rles/papka/code/vkmax-mobilization/docs/preza/screens/04-meter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26954" y="1463040"/>
            <a:ext cx="2821918" cy="416052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8452634" y="5833872"/>
            <a:ext cx="33705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Показания: расход и сравнение со средним по дому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15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Кабинет УК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648" y="1621048"/>
            <a:ext cx="342351" cy="342351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417320" y="1444752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Заявки</a:t>
            </a:r>
            <a:endParaRPr lang="en-US" sz="1600" dirty="0"/>
          </a:p>
        </p:txBody>
      </p:sp>
      <p:sp>
        <p:nvSpPr>
          <p:cNvPr id="8" name="Text 4"/>
          <p:cNvSpPr txBox="1"/>
          <p:nvPr/>
        </p:nvSpPr>
        <p:spPr>
          <a:xfrm>
            <a:off x="1417320" y="1810512"/>
            <a:ext cx="4023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Сообщение о каждой новой заявке, группы коллективных заявок, назначение исполнителя, просроченные заявки</a:t>
            </a:r>
            <a:endParaRPr lang="en-US" sz="1300" dirty="0"/>
          </a:p>
        </p:txBody>
      </p:sp>
      <p:sp>
        <p:nvSpPr>
          <p:cNvPr id="9" name="Shape 5"/>
          <p:cNvSpPr/>
          <p:nvPr/>
        </p:nvSpPr>
        <p:spPr>
          <a:xfrm>
            <a:off x="548640" y="265176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6648" y="2809768"/>
            <a:ext cx="342351" cy="342351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417320" y="2633472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Приём и доступ в квартиры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1417320" y="2999232"/>
            <a:ext cx="4023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Запись жителей на приём, сбор окон доступа: «ответили 9 из 14»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548640" y="384048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6648" y="3998488"/>
            <a:ext cx="342351" cy="342351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417320" y="3822192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Дома и объявления</a:t>
            </a:r>
            <a:endParaRPr lang="en-US" sz="1600" dirty="0"/>
          </a:p>
        </p:txBody>
      </p:sp>
      <p:sp>
        <p:nvSpPr>
          <p:cNvPr id="16" name="Text 10"/>
          <p:cNvSpPr txBox="1"/>
          <p:nvPr/>
        </p:nvSpPr>
        <p:spPr>
          <a:xfrm>
            <a:off x="1417320" y="4187952"/>
            <a:ext cx="4023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Жители, подтверждение квартир, показания, объявления в домовые чаты, QR для подъездов</a:t>
            </a:r>
            <a:endParaRPr lang="en-US" sz="1300" dirty="0"/>
          </a:p>
        </p:txBody>
      </p:sp>
      <p:sp>
        <p:nvSpPr>
          <p:cNvPr id="17" name="Shape 11"/>
          <p:cNvSpPr/>
          <p:nvPr/>
        </p:nvSpPr>
        <p:spPr>
          <a:xfrm>
            <a:off x="548640" y="502920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6648" y="5187208"/>
            <a:ext cx="342351" cy="342351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417320" y="5010912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Аналитика</a:t>
            </a:r>
            <a:endParaRPr lang="en-US" sz="1600" dirty="0"/>
          </a:p>
        </p:txBody>
      </p:sp>
      <p:sp>
        <p:nvSpPr>
          <p:cNvPr id="20" name="Text 13"/>
          <p:cNvSpPr txBox="1"/>
          <p:nvPr/>
        </p:nvSpPr>
        <p:spPr>
          <a:xfrm>
            <a:off x="1417320" y="5376672"/>
            <a:ext cx="4023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Время реакции, доля повторных, исполнители, каналы заявок, обезличенный бенчмарк с другими УК</a:t>
            </a:r>
            <a:endParaRPr lang="en-US" sz="1300" dirty="0"/>
          </a:p>
        </p:txBody>
      </p:sp>
      <p:sp>
        <p:nvSpPr>
          <p:cNvPr id="21" name="Shape 14"/>
          <p:cNvSpPr/>
          <p:nvPr/>
        </p:nvSpPr>
        <p:spPr>
          <a:xfrm>
            <a:off x="5669280" y="1417320"/>
            <a:ext cx="2816352" cy="4572000"/>
          </a:xfrm>
          <a:prstGeom prst="roundRect">
            <a:avLst>
              <a:gd name="adj" fmla="val 7143"/>
            </a:avLst>
          </a:prstGeom>
          <a:solidFill>
            <a:srgbClr val="0A1A3E"/>
          </a:solidFill>
          <a:ln w="1270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548AB">
                <a:alpha val="100000"/>
              </a:srgbClr>
            </a:outerShdw>
          </a:effectLst>
        </p:spPr>
      </p:sp>
      <p:pic>
        <p:nvPicPr>
          <p:cNvPr id="22" name="Image 5" descr="/Users/k1rles/papka/code/vkmax-mobilization/docs/preza/screens/05-admin-requests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60720" y="1508760"/>
            <a:ext cx="2633472" cy="4389120"/>
          </a:xfrm>
          <a:prstGeom prst="rect">
            <a:avLst/>
          </a:prstGeom>
        </p:spPr>
      </p:pic>
      <p:sp>
        <p:nvSpPr>
          <p:cNvPr id="23" name="Shape 15"/>
          <p:cNvSpPr/>
          <p:nvPr/>
        </p:nvSpPr>
        <p:spPr>
          <a:xfrm>
            <a:off x="8714232" y="1417320"/>
            <a:ext cx="2816352" cy="4572000"/>
          </a:xfrm>
          <a:prstGeom prst="roundRect">
            <a:avLst>
              <a:gd name="adj" fmla="val 7143"/>
            </a:avLst>
          </a:prstGeom>
          <a:solidFill>
            <a:srgbClr val="0A1A3E"/>
          </a:solidFill>
          <a:ln w="1270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548AB">
                <a:alpha val="100000"/>
              </a:srgbClr>
            </a:outerShdw>
          </a:effectLst>
        </p:spPr>
      </p:sp>
      <p:pic>
        <p:nvPicPr>
          <p:cNvPr id="24" name="Image 6" descr="/Users/k1rles/papka/code/vkmax-mobilization/docs/preza/screens/06-analytics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05672" y="1508760"/>
            <a:ext cx="2633472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16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Возможности MAX сверх минимума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48640" y="1508760"/>
            <a:ext cx="5394960" cy="1234440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77240" y="178308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248" y="1941088"/>
            <a:ext cx="342351" cy="342351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45920" y="169164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Домовые чаты</a:t>
            </a:r>
            <a:endParaRPr lang="en-US" sz="1550" dirty="0"/>
          </a:p>
        </p:txBody>
      </p:sp>
      <p:sp>
        <p:nvSpPr>
          <p:cNvPr id="9" name="Text 5"/>
          <p:cNvSpPr txBox="1"/>
          <p:nvPr/>
        </p:nvSpPr>
        <p:spPr>
          <a:xfrm>
            <a:off x="1645920" y="2039112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Бот в чате дома: привязка к дому, объявления УК, список закрепов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548640" y="2971800"/>
            <a:ext cx="5394960" cy="1234440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777240" y="324612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5248" y="3404128"/>
            <a:ext cx="342351" cy="342351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645920" y="315468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Три уровня уведомлений</a:t>
            </a:r>
            <a:endParaRPr lang="en-US" sz="1550" dirty="0"/>
          </a:p>
        </p:txBody>
      </p:sp>
      <p:sp>
        <p:nvSpPr>
          <p:cNvPr id="14" name="Text 9"/>
          <p:cNvSpPr txBox="1"/>
          <p:nvPr/>
        </p:nvSpPr>
        <p:spPr>
          <a:xfrm>
            <a:off x="1645920" y="3502152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Со звуком, без звука или выключены, по категориям. Статусы своих заявок не отключаются</a:t>
            </a:r>
            <a:endParaRPr lang="en-US" sz="1250" dirty="0"/>
          </a:p>
        </p:txBody>
      </p:sp>
      <p:sp>
        <p:nvSpPr>
          <p:cNvPr id="15" name="Shape 10"/>
          <p:cNvSpPr/>
          <p:nvPr/>
        </p:nvSpPr>
        <p:spPr>
          <a:xfrm>
            <a:off x="548640" y="4434840"/>
            <a:ext cx="5394960" cy="1234440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777240" y="470916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5248" y="4867168"/>
            <a:ext cx="342351" cy="342351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645920" y="461772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Живые сообщения</a:t>
            </a:r>
            <a:endParaRPr lang="en-US" sz="1550" dirty="0"/>
          </a:p>
        </p:txBody>
      </p:sp>
      <p:sp>
        <p:nvSpPr>
          <p:cNvPr id="19" name="Text 13"/>
          <p:cNvSpPr txBox="1"/>
          <p:nvPr/>
        </p:nvSpPr>
        <p:spPr>
          <a:xfrm>
            <a:off x="1645920" y="4965192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Карточка исполнителя и приёмка редактируются на месте, а не множатся</a:t>
            </a:r>
            <a:endParaRPr lang="en-US" sz="1250" dirty="0"/>
          </a:p>
        </p:txBody>
      </p:sp>
      <p:sp>
        <p:nvSpPr>
          <p:cNvPr id="20" name="Shape 14"/>
          <p:cNvSpPr/>
          <p:nvPr/>
        </p:nvSpPr>
        <p:spPr>
          <a:xfrm>
            <a:off x="6217920" y="1508760"/>
            <a:ext cx="5394960" cy="1234440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6446520" y="178308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04528" y="1941088"/>
            <a:ext cx="342351" cy="342351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7315200" y="169164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Диплинки и QR</a:t>
            </a:r>
            <a:endParaRPr lang="en-US" sz="1550" dirty="0"/>
          </a:p>
        </p:txBody>
      </p:sp>
      <p:sp>
        <p:nvSpPr>
          <p:cNvPr id="24" name="Text 17"/>
          <p:cNvSpPr txBox="1"/>
          <p:nvPr/>
        </p:nvSpPr>
        <p:spPr>
          <a:xfrm>
            <a:off x="7315200" y="2039112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Приглашения сотрудников и арендаторов, подъездный QR, демо-доступ</a:t>
            </a:r>
            <a:endParaRPr lang="en-US" sz="1250" dirty="0"/>
          </a:p>
        </p:txBody>
      </p:sp>
      <p:sp>
        <p:nvSpPr>
          <p:cNvPr id="25" name="Shape 18"/>
          <p:cNvSpPr/>
          <p:nvPr/>
        </p:nvSpPr>
        <p:spPr>
          <a:xfrm>
            <a:off x="6217920" y="2971800"/>
            <a:ext cx="5394960" cy="1234440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26" name="Shape 19"/>
          <p:cNvSpPr/>
          <p:nvPr/>
        </p:nvSpPr>
        <p:spPr>
          <a:xfrm>
            <a:off x="6446520" y="324612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04528" y="3404128"/>
            <a:ext cx="342351" cy="342351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7315200" y="315468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Связка бот + мини-приложение</a:t>
            </a:r>
            <a:endParaRPr lang="en-US" sz="1550" dirty="0"/>
          </a:p>
        </p:txBody>
      </p:sp>
      <p:sp>
        <p:nvSpPr>
          <p:cNvPr id="29" name="Text 21"/>
          <p:cNvSpPr txBox="1"/>
          <p:nvPr/>
        </p:nvSpPr>
        <p:spPr>
          <a:xfrm>
            <a:off x="7315200" y="3502152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Уведомление открывает нужную заявку в приложении, сотруднику - в кабинете УК</a:t>
            </a:r>
            <a:endParaRPr lang="en-US" sz="1250" dirty="0"/>
          </a:p>
        </p:txBody>
      </p:sp>
      <p:sp>
        <p:nvSpPr>
          <p:cNvPr id="30" name="says:56410:20000"/>
          <p:cNvSpPr/>
          <p:nvPr/>
        </p:nvSpPr>
        <p:spPr>
          <a:xfrm>
            <a:off x="6812280" y="4983480"/>
            <a:ext cx="3566160" cy="868680"/>
          </a:xfrm>
          <a:prstGeom prst="wedgeRoundRectCallout">
            <a:avLst>
              <a:gd name="adj1" fmla="val 56410"/>
              <a:gd name="adj2" fmla="val 20000"/>
              <a:gd name="adj3" fmla="val 16667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sp>
        <p:nvSpPr>
          <p:cNvPr id="31" name="Text 23"/>
          <p:cNvSpPr txBox="1"/>
          <p:nvPr/>
        </p:nvSpPr>
        <p:spPr>
          <a:xfrm>
            <a:off x="6958584" y="5038344"/>
            <a:ext cx="3273552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У настоящих мастеров уже стоит MAX</a:t>
            </a:r>
            <a:endParaRPr lang="en-US" sz="1300" dirty="0"/>
          </a:p>
        </p:txBody>
      </p:sp>
      <p:pic>
        <p:nvPicPr>
          <p:cNvPr id="32" name="Image 6" descr="/Users/k1rles/papka/code/vkmax-mobilization/docs/preza/build/assets/zheka-circl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25328" y="5088636"/>
            <a:ext cx="1005840" cy="100584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17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Границы MVP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63040"/>
            <a:ext cx="3547872" cy="502920"/>
          </a:xfrm>
          <a:prstGeom prst="roundRect">
            <a:avLst>
              <a:gd name="adj" fmla="val 49091"/>
            </a:avLst>
          </a:prstGeom>
          <a:solidFill>
            <a:srgbClr val="0958D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Must: сделано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2240280"/>
            <a:ext cx="338328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Согласие на ПД, выбор дома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Заявки полным циклом с уведомлениями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Счётчики: окно, проверка, поверка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Роли в УК, аналитика, демо-доступ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4315968" y="1463040"/>
            <a:ext cx="3547872" cy="502920"/>
          </a:xfrm>
          <a:prstGeom prst="roundRect">
            <a:avLst>
              <a:gd name="adj" fmla="val 49091"/>
            </a:avLst>
          </a:prstGeom>
          <a:solidFill>
            <a:srgbClr val="1E7CF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Should: сделано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407408" y="2240280"/>
            <a:ext cx="338328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Исполнитель в боте, приёмка жителем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Склейка заявок, QR, заявка по звонку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Разбор квитанции, прогноз кворума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OCR, подсказка категории, голос: в коде, на стенде выключены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8083296" y="1463040"/>
            <a:ext cx="3547872" cy="502920"/>
          </a:xfrm>
          <a:prstGeom prst="roundRect">
            <a:avLst>
              <a:gd name="adj" fmla="val 49091"/>
            </a:avLst>
          </a:prstGeom>
          <a:solidFill>
            <a:srgbClr val="17326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Won't: сознательно нет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8174736" y="2240280"/>
            <a:ext cx="338328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Реальная оплата и эквайринг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Юридически значимое ОСС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Интеграция с ГИС ЖКХ и биллингом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Отдельная установка для каждой УК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18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Архитектура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48640" y="2788920"/>
            <a:ext cx="2103120" cy="1005840"/>
          </a:xfrm>
          <a:prstGeom prst="roundRect">
            <a:avLst>
              <a:gd name="adj" fmla="val 10909"/>
            </a:avLst>
          </a:prstGeom>
          <a:solidFill>
            <a:srgbClr val="0958D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85800" y="278892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MAX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D5D9E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бот, мини-приложение, домовые чаты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3200400" y="2788920"/>
            <a:ext cx="173736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17326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337560" y="2788920"/>
            <a:ext cx="1463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nginx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за TLS хоста, разводит по путям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486400" y="1508760"/>
            <a:ext cx="228600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7326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623560" y="150876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web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React + TypeScript, max-ui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486400" y="2834640"/>
            <a:ext cx="228600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5623560" y="283464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api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FastAPI, вебхук бота maxo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486400" y="4160520"/>
            <a:ext cx="228600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73267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623560" y="416052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worker, scheduler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taskiq: рассылки, напоминания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8503920" y="2148840"/>
            <a:ext cx="3136392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73267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41080" y="2148840"/>
            <a:ext cx="28620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PostgreSQL 16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дома, заявки, показания, события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8503920" y="3474720"/>
            <a:ext cx="3136392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173267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641080" y="3474720"/>
            <a:ext cx="2862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Redis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очередь задач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8503920" y="4617720"/>
            <a:ext cx="3136392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173267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641080" y="4617720"/>
            <a:ext cx="28620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Yandex Vision OCR, AI Studio, SpeechKit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 коде; на стенде выключены - нет ключей Yandex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2651760" y="3291840"/>
            <a:ext cx="548640" cy="0"/>
          </a:xfrm>
          <a:prstGeom prst="line">
            <a:avLst/>
          </a:prstGeom>
          <a:noFill/>
          <a:ln w="15875">
            <a:solidFill>
              <a:srgbClr val="173267"/>
            </a:solidFill>
            <a:prstDash val="solid"/>
            <a:headEnd type="triangle"/>
            <a:tailEnd type="triangle"/>
          </a:ln>
        </p:spPr>
      </p:sp>
      <p:sp>
        <p:nvSpPr>
          <p:cNvPr id="22" name="Shape 19"/>
          <p:cNvSpPr/>
          <p:nvPr/>
        </p:nvSpPr>
        <p:spPr>
          <a:xfrm flipV="1">
            <a:off x="4937760" y="1965960"/>
            <a:ext cx="548640" cy="1097280"/>
          </a:xfrm>
          <a:prstGeom prst="line">
            <a:avLst/>
          </a:prstGeom>
          <a:noFill/>
          <a:ln w="15875">
            <a:solidFill>
              <a:srgbClr val="173267"/>
            </a:solidFill>
            <a:prstDash val="solid"/>
            <a:tailEnd type="triangle"/>
          </a:ln>
        </p:spPr>
      </p:sp>
      <p:sp>
        <p:nvSpPr>
          <p:cNvPr id="23" name="Shape 20"/>
          <p:cNvSpPr/>
          <p:nvPr/>
        </p:nvSpPr>
        <p:spPr>
          <a:xfrm>
            <a:off x="4937760" y="3291840"/>
            <a:ext cx="548640" cy="0"/>
          </a:xfrm>
          <a:prstGeom prst="line">
            <a:avLst/>
          </a:prstGeom>
          <a:noFill/>
          <a:ln w="15875">
            <a:solidFill>
              <a:srgbClr val="173267"/>
            </a:solidFill>
            <a:prstDash val="solid"/>
            <a:tailEnd type="triangle"/>
          </a:ln>
        </p:spPr>
      </p:sp>
      <p:sp>
        <p:nvSpPr>
          <p:cNvPr id="24" name="Shape 21"/>
          <p:cNvSpPr/>
          <p:nvPr/>
        </p:nvSpPr>
        <p:spPr>
          <a:xfrm flipV="1">
            <a:off x="7772400" y="2606040"/>
            <a:ext cx="731520" cy="548640"/>
          </a:xfrm>
          <a:prstGeom prst="line">
            <a:avLst/>
          </a:prstGeom>
          <a:noFill/>
          <a:ln w="15875">
            <a:solidFill>
              <a:srgbClr val="173267"/>
            </a:solidFill>
            <a:prstDash val="solid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7772400" y="3429000"/>
            <a:ext cx="731520" cy="411480"/>
          </a:xfrm>
          <a:prstGeom prst="line">
            <a:avLst/>
          </a:prstGeom>
          <a:noFill/>
          <a:ln w="15875">
            <a:solidFill>
              <a:srgbClr val="173267"/>
            </a:solidFill>
            <a:prstDash val="solid"/>
            <a:tailEnd type="triangle"/>
          </a:ln>
        </p:spPr>
      </p:sp>
      <p:sp>
        <p:nvSpPr>
          <p:cNvPr id="26" name="Shape 23"/>
          <p:cNvSpPr/>
          <p:nvPr/>
        </p:nvSpPr>
        <p:spPr>
          <a:xfrm>
            <a:off x="6629400" y="3749040"/>
            <a:ext cx="0" cy="411480"/>
          </a:xfrm>
          <a:prstGeom prst="line">
            <a:avLst/>
          </a:prstGeom>
          <a:noFill/>
          <a:ln w="15875">
            <a:solidFill>
              <a:srgbClr val="173267"/>
            </a:solidFill>
            <a:prstDash val="solid"/>
            <a:tailEnd type="triangle"/>
          </a:ln>
        </p:spPr>
      </p:sp>
      <p:sp>
        <p:nvSpPr>
          <p:cNvPr id="27" name="Shape 24"/>
          <p:cNvSpPr/>
          <p:nvPr/>
        </p:nvSpPr>
        <p:spPr>
          <a:xfrm flipV="1">
            <a:off x="7772400" y="3977640"/>
            <a:ext cx="731520" cy="640080"/>
          </a:xfrm>
          <a:prstGeom prst="line">
            <a:avLst/>
          </a:prstGeom>
          <a:noFill/>
          <a:ln w="15875">
            <a:solidFill>
              <a:srgbClr val="173267"/>
            </a:solidFill>
            <a:prstDash val="solid"/>
            <a:tailEnd type="triangle"/>
          </a:ln>
        </p:spPr>
      </p:sp>
      <p:sp>
        <p:nvSpPr>
          <p:cNvPr id="28" name="Shape 25"/>
          <p:cNvSpPr/>
          <p:nvPr/>
        </p:nvSpPr>
        <p:spPr>
          <a:xfrm>
            <a:off x="7772400" y="3566160"/>
            <a:ext cx="731520" cy="1417320"/>
          </a:xfrm>
          <a:prstGeom prst="line">
            <a:avLst/>
          </a:prstGeom>
          <a:noFill/>
          <a:ln w="15875">
            <a:solidFill>
              <a:srgbClr val="173267"/>
            </a:solidFill>
            <a:prstDash val="dash"/>
            <a:tailEnd type="triangle"/>
          </a:ln>
        </p:spPr>
      </p:sp>
      <p:sp>
        <p:nvSpPr>
          <p:cNvPr id="29" name="Shape 26"/>
          <p:cNvSpPr/>
          <p:nvPr/>
        </p:nvSpPr>
        <p:spPr>
          <a:xfrm flipH="1" flipV="1">
            <a:off x="2651760" y="3611880"/>
            <a:ext cx="2834640" cy="1005840"/>
          </a:xfrm>
          <a:prstGeom prst="line">
            <a:avLst/>
          </a:prstGeom>
          <a:noFill/>
          <a:ln w="15875">
            <a:solidFill>
              <a:srgbClr val="173267"/>
            </a:solidFill>
            <a:prstDash val="dash"/>
            <a:tailEnd type="triangle"/>
          </a:ln>
        </p:spPr>
      </p:sp>
      <p:sp>
        <p:nvSpPr>
          <p:cNvPr id="30" name="Text 27"/>
          <p:cNvSpPr txBox="1"/>
          <p:nvPr/>
        </p:nvSpPr>
        <p:spPr>
          <a:xfrm>
            <a:off x="548640" y="58064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Один бот на все УК: мультитенант на общей схеме, изоляция фильтром по организации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Docker Compose поднимает всё одной командой</a:t>
            </a:r>
            <a:endParaRPr lang="en-US" sz="13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19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Данные и интеграции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0958D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1980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219456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домов в справочнике, по 660 на город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2560320" y="141732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0958D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3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2560320" y="219456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города: Москва, Санкт-Петербург, Казань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4572000" y="141732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0958D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77</a:t>
            </a:r>
            <a:endParaRPr lang="en-US" sz="3400" dirty="0"/>
          </a:p>
        </p:txBody>
      </p:sp>
      <p:sp>
        <p:nvSpPr>
          <p:cNvPr id="10" name="Text 7"/>
          <p:cNvSpPr txBox="1"/>
          <p:nvPr/>
        </p:nvSpPr>
        <p:spPr>
          <a:xfrm>
            <a:off x="4572000" y="219456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УК из реестра, связаны с 552 домами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548640" y="3200400"/>
            <a:ext cx="5669280" cy="301752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D5D9E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2960" y="33832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Открытые данные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822960" y="3840480"/>
            <a:ext cx="52120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Реформа ЖКХ: дома (год, этажность, площадь, помещения) и реестр УО, выгрузка 01.09.2026</a:t>
            </a:r>
            <a:endParaRPr lang="en-US" sz="13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ГИС ЖКХ: публичные карточки домов (кадастровый номер, износ, состояние, энергокласс) и темы жалоб из справочника НСИ 220</a:t>
            </a:r>
            <a:endParaRPr lang="en-US" sz="13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OpenStreetMap: координаты через Nominatim и Overpass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6492240" y="1417320"/>
            <a:ext cx="5148072" cy="480060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5D9E6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766560" y="1600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Модельные данные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6766560" y="2057400"/>
            <a:ext cx="4663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Начисления, квитанции, показания: синтетика, помечена в интерфейсе. Оплата не списывает денег</a:t>
            </a:r>
            <a:endParaRPr lang="en-US" sz="13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17 демо-УК: 5 с демо-входом и 12 фоновых, ИНН заведомо неверные, история за 6 месяцев</a:t>
            </a:r>
            <a:endParaRPr lang="en-US" sz="13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Демо-УК занимают только дома без УК в реестре: настоящие УК не подменяются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6766560" y="41605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Для продакшена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6766560" y="4572000"/>
            <a:ext cx="4663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Выгрузка биллинга УК в таблицу начислений</a:t>
            </a:r>
            <a:endParaRPr lang="en-US" sz="13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ГИС ЖКХ API для домов и лицевых счетов</a:t>
            </a:r>
            <a:endParaRPr lang="en-US" sz="13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ЕСИА или письмо на домен УК для проверки организации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20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Правовой контур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48640" y="1508760"/>
            <a:ext cx="5394960" cy="210312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04672" y="1764792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2680" y="1922800"/>
            <a:ext cx="342351" cy="342351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45920" y="187452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ПП РФ № 40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804672" y="2560320"/>
            <a:ext cx="4892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Жэка - канал, через который УК работает с жителями в MAX: обращения и запись на приём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6217920" y="1508760"/>
            <a:ext cx="5394960" cy="210312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473952" y="1764792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1960" y="1922800"/>
            <a:ext cx="342351" cy="342351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315200" y="187452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ПП РФ № 416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6473952" y="2560320"/>
            <a:ext cx="4892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п. 35: ответ тем же каналом. п. 36: ни один срок категории не длиннее 10 рабочих дней. п. 38: заявки хранятся 3 года</a:t>
            </a:r>
            <a:endParaRPr lang="en-US" sz="1300" dirty="0"/>
          </a:p>
        </p:txBody>
      </p:sp>
      <p:sp>
        <p:nvSpPr>
          <p:cNvPr id="15" name="Shape 10"/>
          <p:cNvSpPr/>
          <p:nvPr/>
        </p:nvSpPr>
        <p:spPr>
          <a:xfrm>
            <a:off x="548640" y="3886200"/>
            <a:ext cx="5394960" cy="210312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804672" y="4142232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2680" y="4300240"/>
            <a:ext cx="342351" cy="342351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645920" y="425196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152-ФЗ</a:t>
            </a:r>
            <a:endParaRPr lang="en-US" sz="1500" dirty="0"/>
          </a:p>
        </p:txBody>
      </p:sp>
      <p:sp>
        <p:nvSpPr>
          <p:cNvPr id="19" name="Text 13"/>
          <p:cNvSpPr txBox="1"/>
          <p:nvPr/>
        </p:nvSpPr>
        <p:spPr>
          <a:xfrm>
            <a:off x="804672" y="4937760"/>
            <a:ext cx="4892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Согласие до выбора дома, версия и дата согласия в базе. Данные жителя видит только УК его дома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6217920" y="3886200"/>
            <a:ext cx="5394960" cy="210312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6473952" y="4142232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31960" y="4300240"/>
            <a:ext cx="342351" cy="342351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7315200" y="425196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Опросы - не ОСС</a:t>
            </a:r>
            <a:endParaRPr lang="en-US" sz="1500" dirty="0"/>
          </a:p>
        </p:txBody>
      </p:sp>
      <p:sp>
        <p:nvSpPr>
          <p:cNvPr id="24" name="Text 17"/>
          <p:cNvSpPr txBox="1"/>
          <p:nvPr/>
        </p:nvSpPr>
        <p:spPr>
          <a:xfrm>
            <a:off x="6473952" y="4937760"/>
            <a:ext cx="4892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Опрос помечен как предварительный: это репетиция собрания с прогнозом кворума, а не юридическое решение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21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Что сохраняется, что адаптируется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5394960" cy="393192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22960" y="169164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Ядро: переносится без изменений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286000"/>
            <a:ext cx="48920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Проблема жителя и сценарий заявки с приёмкой</a:t>
            </a:r>
            <a:endParaRPr lang="en-US" sz="14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Один бот на все УК, модель данных дом - квартира - житель</a:t>
            </a:r>
            <a:endParaRPr lang="en-US" sz="14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Счётчики, опросы, домовые чаты, роли в УК</a:t>
            </a:r>
            <a:endParaRPr lang="en-US" sz="14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Интерфейс бота и мини-приложения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6245352" y="1463040"/>
            <a:ext cx="5394960" cy="3931920"/>
          </a:xfrm>
          <a:prstGeom prst="roundRect">
            <a:avLst>
              <a:gd name="adj" fmla="val 4651"/>
            </a:avLst>
          </a:prstGeom>
          <a:solidFill>
            <a:srgbClr val="F7F9FC"/>
          </a:solidFill>
          <a:ln w="12700">
            <a:solidFill>
              <a:srgbClr val="D5D9E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519672" y="1691640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Переменная часть: меняется под регион и УК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6519672" y="2423160"/>
            <a:ext cx="489204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Справочник домов: выгрузка Реформы ЖКХ по региону</a:t>
            </a:r>
            <a:endParaRPr lang="en-US" sz="13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Тарифы, окна подачи показаний, часовой пояс дома</a:t>
            </a:r>
            <a:endParaRPr lang="en-US" sz="13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Категории и сроки заявок под регламент УК</a:t>
            </a:r>
            <a:endParaRPr lang="en-US" sz="13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Куда звонить: телефоны служб и ГЖИ города, вручную с официальных сайтов</a:t>
            </a:r>
            <a:endParaRPr lang="en-US" sz="13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Интеграции: биллинг УК, ГИС ЖКХ, региональные системы</a:t>
            </a:r>
            <a:endParaRPr lang="en-US" sz="13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План: свой бот УК на её токене в той же установке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548640" y="5577840"/>
            <a:ext cx="11091672" cy="685800"/>
          </a:xfrm>
          <a:prstGeom prst="roundRect">
            <a:avLst>
              <a:gd name="adj" fmla="val 16000"/>
            </a:avLst>
          </a:prstGeom>
          <a:solidFill>
            <a:srgbClr val="D5D9E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77240" y="5623560"/>
            <a:ext cx="1069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Новый регион без изменений бота: </a:t>
            </a:r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скрипт загружает выгрузку КР 1.1 и реестр УО Реформы ЖКХ, под регион настраиваются выгрузка и разбор адресов. УК подключается сама по ИНН и коду регистрации, сотрудников зовёт ссылками, своих ИТ-специалистов не нужно</a:t>
            </a:r>
            <a:endParaRPr lang="en-US" sz="12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22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Путь тиражирования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48640" y="3749040"/>
            <a:ext cx="2606040" cy="246888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77240" y="39319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E781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44348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Пилот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480060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958D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 УК, 5-10 домов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516636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QR в подъездах, пост в домовом чате, сотрудники по приглашениям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3377184" y="3182112"/>
            <a:ext cx="2606040" cy="3035808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3605784" y="336499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958D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3605784" y="3867912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Город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3605784" y="4233672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958D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все УК города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3605784" y="4599432"/>
            <a:ext cx="2194560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Регистрация УК по ИНН, дома из реестра. Спрос жителей на неподключённые дома как аргумент для УК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205728" y="2615184"/>
            <a:ext cx="2606040" cy="3602736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434328" y="2798064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958D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4"/>
          <p:cNvSpPr txBox="1"/>
          <p:nvPr/>
        </p:nvSpPr>
        <p:spPr>
          <a:xfrm>
            <a:off x="6434328" y="3300984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Регион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434328" y="3666744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958D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Москва, СПб, Татарстан</a:t>
            </a:r>
            <a:endParaRPr lang="en-US" sz="1250" dirty="0"/>
          </a:p>
        </p:txBody>
      </p:sp>
      <p:sp>
        <p:nvSpPr>
          <p:cNvPr id="19" name="Text 16"/>
          <p:cNvSpPr txBox="1"/>
          <p:nvPr/>
        </p:nvSpPr>
        <p:spPr>
          <a:xfrm>
            <a:off x="6434328" y="4032504"/>
            <a:ext cx="2194560" cy="1956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Скрипт выгрузки уже работает с КР 1.1 этих регионов, в демо 1980 домов. Интеграция с биллингом крупных УК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9034272" y="2048256"/>
            <a:ext cx="2606040" cy="4169664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9262872" y="2231136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958D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4</a:t>
            </a:r>
            <a:endParaRPr lang="en-US" sz="2200" dirty="0"/>
          </a:p>
        </p:txBody>
      </p:sp>
      <p:sp>
        <p:nvSpPr>
          <p:cNvPr id="22" name="Text 19"/>
          <p:cNvSpPr txBox="1"/>
          <p:nvPr/>
        </p:nvSpPr>
        <p:spPr>
          <a:xfrm>
            <a:off x="9262872" y="2734056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Сети и ТСЖ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9262872" y="3099816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958D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план</a:t>
            </a:r>
            <a:endParaRPr lang="en-US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9262872" y="3465576"/>
            <a:ext cx="2194560" cy="2523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Свой бот УК на её токене в той же установке, аналитика общая. ТСЖ и ЖСК с той же механикой</a:t>
            </a:r>
            <a:endParaRPr lang="en-US" sz="1250" dirty="0"/>
          </a:p>
        </p:txBody>
      </p:sp>
      <p:sp>
        <p:nvSpPr>
          <p:cNvPr id="25" name="Text 22"/>
          <p:cNvSpPr txBox="1"/>
          <p:nvPr/>
        </p:nvSpPr>
        <p:spPr>
          <a:xfrm>
            <a:off x="548640" y="1463040"/>
            <a:ext cx="5486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Рынок: </a:t>
            </a:r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всё в домах (МКД) из реестра УО Реформы ЖКХ на 01.09.2026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TAM - 706 155 МКД под управлением 49 312 организаций реестра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SAM - 470 907 МКД у 3 335 УК, у которых 50+ домов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SOM до пилота не оцениваем. Фокус - одна УК с 50+ домами в Москве, Санкт-Петербурге или Казани, где справочник уже загружен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23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План пилота и эффект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280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Гипотеза: если житель сообщает о проблеме в MAX и сам принимает работу, заявка регистрируется быстрее, а «выполнено» становится фактом, потому что его подтверждает вторая сторона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48640" y="205740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648" y="2215408"/>
            <a:ext cx="342351" cy="342351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17320" y="2057400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Где</a:t>
            </a:r>
            <a:endParaRPr lang="en-US" sz="1550" dirty="0"/>
          </a:p>
        </p:txBody>
      </p:sp>
      <p:sp>
        <p:nvSpPr>
          <p:cNvPr id="9" name="Text 5"/>
          <p:cNvSpPr txBox="1"/>
          <p:nvPr/>
        </p:nvSpPr>
        <p:spPr>
          <a:xfrm>
            <a:off x="1417320" y="242316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Одна УК и 5-10 её домов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548640" y="310896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6648" y="3266968"/>
            <a:ext cx="342351" cy="342351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417320" y="3108960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Как встраивается</a:t>
            </a:r>
            <a:endParaRPr lang="en-US" sz="1550" dirty="0"/>
          </a:p>
        </p:txBody>
      </p:sp>
      <p:sp>
        <p:nvSpPr>
          <p:cNvPr id="13" name="Text 8"/>
          <p:cNvSpPr txBox="1"/>
          <p:nvPr/>
        </p:nvSpPr>
        <p:spPr>
          <a:xfrm>
            <a:off x="1417320" y="347472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Диспетчер ведёт заявки в кабинете УК, звонки заводит заявкой, мастер получает карточку в MAX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548640" y="416052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6648" y="4318528"/>
            <a:ext cx="342351" cy="342351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417320" y="4160520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Кто нужен</a:t>
            </a:r>
            <a:endParaRPr lang="en-US" sz="1550" dirty="0"/>
          </a:p>
        </p:txBody>
      </p:sp>
      <p:sp>
        <p:nvSpPr>
          <p:cNvPr id="17" name="Text 11"/>
          <p:cNvSpPr txBox="1"/>
          <p:nvPr/>
        </p:nvSpPr>
        <p:spPr>
          <a:xfrm>
            <a:off x="1417320" y="452628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Владелец процесса в УК, диспетчер, 2-3 мастера, председатель совета дома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548640" y="521208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6648" y="5370088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417320" y="5212080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Как придут жители</a:t>
            </a:r>
            <a:endParaRPr lang="en-US" sz="1550" dirty="0"/>
          </a:p>
        </p:txBody>
      </p:sp>
      <p:sp>
        <p:nvSpPr>
          <p:cNvPr id="21" name="Text 14"/>
          <p:cNvSpPr txBox="1"/>
          <p:nvPr/>
        </p:nvSpPr>
        <p:spPr>
          <a:xfrm>
            <a:off x="1417320" y="557784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QR у лифта, объявление в домовом чате, строка в квитанции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6583680" y="2011680"/>
            <a:ext cx="5056632" cy="420624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23" name="Text 16"/>
          <p:cNvSpPr txBox="1"/>
          <p:nvPr/>
        </p:nvSpPr>
        <p:spPr>
          <a:xfrm>
            <a:off x="6858000" y="21488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Что можно замерить за 2 месяца</a:t>
            </a:r>
            <a:endParaRPr lang="en-US" sz="1500" dirty="0"/>
          </a:p>
        </p:txBody>
      </p:sp>
      <p:sp>
        <p:nvSpPr>
          <p:cNvPr id="24" name="Text 17"/>
          <p:cNvSpPr txBox="1"/>
          <p:nvPr/>
        </p:nvSpPr>
        <p:spPr>
          <a:xfrm>
            <a:off x="6858000" y="2606040"/>
            <a:ext cx="45720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Время реакции: цель - в сроке категории, авария локализована за 30 минут (ПП РФ № 416, п. 13)</a:t>
            </a:r>
            <a:endParaRPr lang="en-US" sz="130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Доля работ, принятых жителем, против закрытых по таймауту</a:t>
            </a:r>
            <a:endParaRPr lang="en-US" sz="130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Доля заявок цифрой против записанных со звонка</a:t>
            </a:r>
            <a:endParaRPr lang="en-US" sz="130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Доля повторных заявок</a:t>
            </a:r>
            <a:endParaRPr lang="en-US" sz="130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Доля показаний через бота</a:t>
            </a:r>
            <a:endParaRPr lang="en-US" sz="130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Охват: доля квартир дома в продукте</a:t>
            </a:r>
            <a:endParaRPr lang="en-US" sz="1300" dirty="0"/>
          </a:p>
        </p:txBody>
      </p:sp>
      <p:sp>
        <p:nvSpPr>
          <p:cNvPr id="25" name="Text 18"/>
          <p:cNvSpPr txBox="1"/>
          <p:nvPr/>
        </p:nvSpPr>
        <p:spPr>
          <a:xfrm>
            <a:off x="6858000" y="51663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Цели по долям - после первого месяца: базы нет</a:t>
            </a:r>
            <a:endParaRPr lang="en-US" sz="1200" dirty="0"/>
          </a:p>
        </p:txBody>
      </p:sp>
      <p:sp>
        <p:nvSpPr>
          <p:cNvPr id="26" name="Text 19"/>
          <p:cNvSpPr txBox="1"/>
          <p:nvPr/>
        </p:nvSpPr>
        <p:spPr>
          <a:xfrm>
            <a:off x="6858000" y="553212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958D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Следующий шаг: все дома первой УК, затем соседние УК города</a:t>
            </a:r>
            <a:endParaRPr lang="en-US" sz="13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24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Ограничения, риски и допущения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3547872" cy="4754880"/>
          </a:xfrm>
          <a:prstGeom prst="roundRect">
            <a:avLst>
              <a:gd name="adj" fmla="val 5155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04672" y="1691640"/>
            <a:ext cx="640080" cy="640080"/>
          </a:xfrm>
          <a:prstGeom prst="ellipse">
            <a:avLst/>
          </a:prstGeom>
          <a:solidFill>
            <a:srgbClr val="FE781A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8291" y="1845259"/>
            <a:ext cx="332842" cy="33284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572768" y="17830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Ограничения MVP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804672" y="2606040"/>
            <a:ext cx="3063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Большого пилота не было: CustDev на друзьях и родственниках</a:t>
            </a:r>
            <a:endParaRPr lang="en-US" sz="13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Начисления и лицевые счета модельные</a:t>
            </a:r>
            <a:endParaRPr lang="en-US" sz="13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УК регистрируется без проверки</a:t>
            </a:r>
            <a:endParaRPr lang="en-US" sz="13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Нет интеграции с ГИС ЖКХ и биллингом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4315968" y="1463040"/>
            <a:ext cx="3547872" cy="4754880"/>
          </a:xfrm>
          <a:prstGeom prst="roundRect">
            <a:avLst>
              <a:gd name="adj" fmla="val 5155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72000" y="1691640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5619" y="1845259"/>
            <a:ext cx="332842" cy="332842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340096" y="17830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Ограничения MAX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4572000" y="2606040"/>
            <a:ext cx="3063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30 запросов в секунду на бота: рассылка на 1 000 жителей около 35 секунд</a:t>
            </a:r>
            <a:endParaRPr lang="en-US" sz="13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Бот не пишет первым, пока житель его не открыл: звонок заводит диспетчер</a:t>
            </a:r>
            <a:endParaRPr lang="en-US" sz="13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Бот помнит около 1 000 чатов: привязки чатов храним у себя</a:t>
            </a:r>
            <a:endParaRPr lang="en-US" sz="1300" dirty="0"/>
          </a:p>
        </p:txBody>
      </p:sp>
      <p:sp>
        <p:nvSpPr>
          <p:cNvPr id="15" name="Shape 10"/>
          <p:cNvSpPr/>
          <p:nvPr/>
        </p:nvSpPr>
        <p:spPr>
          <a:xfrm>
            <a:off x="8083296" y="1463040"/>
            <a:ext cx="3547872" cy="4754880"/>
          </a:xfrm>
          <a:prstGeom prst="roundRect">
            <a:avLst>
              <a:gd name="adj" fmla="val 5155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8339328" y="1691640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92947" y="1845259"/>
            <a:ext cx="332842" cy="33284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9107424" y="17830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Риски и ответы</a:t>
            </a:r>
            <a:endParaRPr lang="en-US" sz="1400" dirty="0"/>
          </a:p>
        </p:txBody>
      </p:sp>
      <p:sp>
        <p:nvSpPr>
          <p:cNvPr id="19" name="Text 13"/>
          <p:cNvSpPr txBox="1"/>
          <p:nvPr/>
        </p:nvSpPr>
        <p:spPr>
          <a:xfrm>
            <a:off x="8339328" y="2606040"/>
            <a:ext cx="3063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Допущение: сторонний бот засчитают как канал УК в MAX по ПП № 40. Проверим на пилоте</a:t>
            </a:r>
            <a:endParaRPr lang="en-US" sz="13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УК не хочет прозрачности: бенчмарк и спрос жителей</a:t>
            </a:r>
            <a:endParaRPr lang="en-US" sz="13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Геокодинг: Nominatim - 1 запрос в секунду, 30 292 дома Москвы - больше 8 часов. На масштабе свой Nominatim или DaData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25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Источники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63040"/>
            <a:ext cx="110642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ПП РФ от 26.01.2026 № 40; Минстрой России, 2026: взаимодействие УК с жителями через MAX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ПП РФ от 15.05.2013 № 416 в ред. от 20.06.2026: правила управления МКД, пп. 34-38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Приказ Минстроя об информационном взаимодействии через ГИС ЖКХ и MAX (publication.pravo.gov.ru)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Росстат: жилищный фонд РФ, 2024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Реформа ЖКХ (reformagkh.ru): отчёт КР 1.1 и реестр УО, выгрузка 01.09.2026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ГИС ЖКХ (dom.gosuslugi.ru): публичные карточки домов, справочник НСИ 220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© участники OpenStreetMap, ODbL: координаты домов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Документация MAX для разработчиков: dev.max.ru/docs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Вебинары хакатона MAX, эксперт трека «Умный город» (Минстрой Псковской области): боли жителей и УК, Госуслуги Дом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5778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Где использовался ИИ: ИИ-ассистент был вспомогательным инструментом и писал код по планам и правилам команды; продуктовые решения, архитектура и проверка - за командой. В коде продукта есть подсказка категории (YandexGPT), распознавание показаний (Vision OCR) и голосовых (SpeechKit)</a:t>
            </a:r>
            <a:endParaRPr lang="en-US" sz="13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26</a:t>
            </a:r>
            <a:endParaRPr lang="en-US" sz="1000" dirty="0"/>
          </a:p>
        </p:txBody>
      </p:sp>
      <p:pic>
        <p:nvPicPr>
          <p:cNvPr id="3" name="Image 0" descr="/Users/k1rles/papka/code/vkmax-mobilization/docs/preza/build/assets/zheka-circ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325880"/>
            <a:ext cx="4206240" cy="4206240"/>
          </a:xfrm>
          <a:prstGeom prst="rect">
            <a:avLst/>
          </a:prstGeom>
        </p:spPr>
      </p:pic>
      <p:pic>
        <p:nvPicPr>
          <p:cNvPr id="4" name="Image 1" descr="/Users/k1rles/papka/code/vkmax-mobilization/docs/preza/build/assets/zheka-circ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640080"/>
            <a:ext cx="1005840" cy="10058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1828800" y="658368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Жэка</a:t>
            </a:r>
            <a:endParaRPr lang="en-US" sz="3200" dirty="0"/>
          </a:p>
        </p:txBody>
      </p:sp>
      <p:sp>
        <p:nvSpPr>
          <p:cNvPr id="6" name="Text 2"/>
          <p:cNvSpPr txBox="1"/>
          <p:nvPr/>
        </p:nvSpPr>
        <p:spPr>
          <a:xfrm>
            <a:off x="1828800" y="121615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Коммуналкин</a:t>
            </a:r>
            <a:endParaRPr lang="en-US" sz="1800" dirty="0"/>
          </a:p>
        </p:txBody>
      </p:sp>
      <p:sp>
        <p:nvSpPr>
          <p:cNvPr id="7" name="Text 3"/>
          <p:cNvSpPr txBox="1"/>
          <p:nvPr/>
        </p:nvSpPr>
        <p:spPr>
          <a:xfrm>
            <a:off x="640080" y="2468880"/>
            <a:ext cx="5486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Спасибо!</a:t>
            </a:r>
            <a:endParaRPr lang="en-US" sz="4800" dirty="0"/>
          </a:p>
        </p:txBody>
      </p:sp>
      <p:sp>
        <p:nvSpPr>
          <p:cNvPr id="8" name="Text 4"/>
          <p:cNvSpPr txBox="1"/>
          <p:nvPr/>
        </p:nvSpPr>
        <p:spPr>
          <a:xfrm>
            <a:off x="640080" y="3657600"/>
            <a:ext cx="5669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Потекло, погасло, сломалось?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Пишите Жэке</a:t>
            </a:r>
            <a:endParaRPr lang="en-US" sz="2000" dirty="0"/>
          </a:p>
        </p:txBody>
      </p:sp>
      <p:sp>
        <p:nvSpPr>
          <p:cNvPr id="9" name="Text 5"/>
          <p:cNvSpPr txBox="1"/>
          <p:nvPr/>
        </p:nvSpPr>
        <p:spPr>
          <a:xfrm>
            <a:off x="640080" y="4937760"/>
            <a:ext cx="5669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max.ru/t260_hakaton_max_bot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github.com/K1rL3s/vkmax-mobilization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Команда «Мобилизация»</a:t>
            </a:r>
            <a:endParaRPr lang="en-US" sz="1400" dirty="0"/>
          </a:p>
        </p:txBody>
      </p:sp>
      <p:pic>
        <p:nvPicPr>
          <p:cNvPr id="10" name="Image 2" descr="preencoded.png">
            <a:hlinkClick r:id="rId5" tooltip="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4937760"/>
            <a:ext cx="2743200" cy="256032"/>
          </a:xfrm>
          <a:prstGeom prst="rect">
            <a:avLst/>
          </a:prstGeom>
        </p:spPr>
      </p:pic>
      <p:pic>
        <p:nvPicPr>
          <p:cNvPr id="11" name="Image 3" descr="preencoded.png">
            <a:hlinkClick r:id="rId7" tooltip="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5193792"/>
            <a:ext cx="3291840" cy="25603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Команда «Мобилизация»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Жэка Коммуналкин</dc:title>
  <dc:subject>PptxGenJS Presentation</dc:subject>
  <dc:creator>PptxGenJS</dc:creator>
  <cp:lastModifiedBy>PptxGenJS</cp:lastModifiedBy>
  <cp:revision>1</cp:revision>
  <dcterms:created xsi:type="dcterms:W3CDTF">2026-09-30T08:13:48Z</dcterms:created>
  <dcterms:modified xsi:type="dcterms:W3CDTF">2026-09-30T08:13:48Z</dcterms:modified>
</cp:coreProperties>
</file>